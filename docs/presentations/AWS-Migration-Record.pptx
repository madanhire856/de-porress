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c62515db6b4a4f" /><Relationship Type="http://schemas.openxmlformats.org/officeDocument/2006/relationships/extended-properties" Target="/docProps/app.xml" Id="R3acf225862034898" /><Relationship Type="http://schemas.openxmlformats.org/officeDocument/2006/relationships/officeDocument" Target="/ppt/presentation.xml" Id="Ra79486206fac47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34e40f97144bdd"/>
  </p:sldMasterIdLst>
  <p:notesMasterIdLst>
    <p:notesMasterId xmlns:r="http://schemas.openxmlformats.org/officeDocument/2006/relationships" r:id="Ra1c632219b20456c"/>
  </p:notesMasterIdLst>
  <p:sldIdLst>
    <p:sldId xmlns:r="http://schemas.openxmlformats.org/officeDocument/2006/relationships" id="256" r:id="Rae49568829444bc3"/>
    <p:sldId xmlns:r="http://schemas.openxmlformats.org/officeDocument/2006/relationships" id="257" r:id="Rbc71167eed5e4380"/>
    <p:sldId xmlns:r="http://schemas.openxmlformats.org/officeDocument/2006/relationships" id="258" r:id="R16007d7b07004f5d"/>
    <p:sldId xmlns:r="http://schemas.openxmlformats.org/officeDocument/2006/relationships" id="259" r:id="R27e7b30eb0f548f4"/>
    <p:sldId xmlns:r="http://schemas.openxmlformats.org/officeDocument/2006/relationships" id="260" r:id="R35a59c61b9d14b05"/>
    <p:sldId xmlns:r="http://schemas.openxmlformats.org/officeDocument/2006/relationships" id="261" r:id="R20688fab09d149e2"/>
    <p:sldId xmlns:r="http://schemas.openxmlformats.org/officeDocument/2006/relationships" id="262" r:id="R53700ecacf094be2"/>
    <p:sldId xmlns:r="http://schemas.openxmlformats.org/officeDocument/2006/relationships" id="263" r:id="R4f3d04d9ab944495"/>
    <p:sldId xmlns:r="http://schemas.openxmlformats.org/officeDocument/2006/relationships" id="264" r:id="Rec3bf8198b7b4380"/>
    <p:sldId xmlns:r="http://schemas.openxmlformats.org/officeDocument/2006/relationships" id="265" r:id="Rf3af461c07144b76"/>
    <p:sldId xmlns:r="http://schemas.openxmlformats.org/officeDocument/2006/relationships" id="266" r:id="R131b4854680c4943"/>
    <p:sldId xmlns:r="http://schemas.openxmlformats.org/officeDocument/2006/relationships" id="267" r:id="R7fa562ceeac94be8"/>
    <p:sldId xmlns:r="http://schemas.openxmlformats.org/officeDocument/2006/relationships" id="268" r:id="Rb1e2783f163145e5"/>
    <p:sldId xmlns:r="http://schemas.openxmlformats.org/officeDocument/2006/relationships" id="269" r:id="Rdfe588f11ec74a00"/>
    <p:sldId xmlns:r="http://schemas.openxmlformats.org/officeDocument/2006/relationships" id="270" r:id="Rfabdf3ecd9044b78"/>
    <p:sldId xmlns:r="http://schemas.openxmlformats.org/officeDocument/2006/relationships" id="271" r:id="Ra58ebce36e2c4985"/>
    <p:sldId xmlns:r="http://schemas.openxmlformats.org/officeDocument/2006/relationships" id="272" r:id="Rd88210396cdd44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9d479456a64eb0" /><Relationship Type="http://schemas.openxmlformats.org/officeDocument/2006/relationships/slideMaster" Target="/ppt/slideMasters/slideMaster1.xml" Id="Rae34e40f97144bdd" /><Relationship Type="http://schemas.openxmlformats.org/officeDocument/2006/relationships/notesMaster" Target="/ppt/notesMasters/notesMaster1.xml" Id="Ra1c632219b20456c" /><Relationship Type="http://schemas.openxmlformats.org/officeDocument/2006/relationships/presProps" Target="/ppt/presProps.xml" Id="Rf7418ac03afb45b6" /><Relationship Type="http://schemas.openxmlformats.org/officeDocument/2006/relationships/tableStyles" Target="/ppt/tableStyles.xml" Id="R6972ccc28d164024" /><Relationship Type="http://schemas.openxmlformats.org/officeDocument/2006/relationships/slide" Target="/ppt/slides/slide1.xml" Id="Rae49568829444bc3" /><Relationship Type="http://schemas.openxmlformats.org/officeDocument/2006/relationships/slide" Target="/ppt/slides/slide2.xml" Id="Rbc71167eed5e4380" /><Relationship Type="http://schemas.openxmlformats.org/officeDocument/2006/relationships/slide" Target="/ppt/slides/slide3.xml" Id="R16007d7b07004f5d" /><Relationship Type="http://schemas.openxmlformats.org/officeDocument/2006/relationships/slide" Target="/ppt/slides/slide4.xml" Id="R27e7b30eb0f548f4" /><Relationship Type="http://schemas.openxmlformats.org/officeDocument/2006/relationships/slide" Target="/ppt/slides/slide5.xml" Id="R35a59c61b9d14b05" /><Relationship Type="http://schemas.openxmlformats.org/officeDocument/2006/relationships/slide" Target="/ppt/slides/slide6.xml" Id="R20688fab09d149e2" /><Relationship Type="http://schemas.openxmlformats.org/officeDocument/2006/relationships/slide" Target="/ppt/slides/slide7.xml" Id="R53700ecacf094be2" /><Relationship Type="http://schemas.openxmlformats.org/officeDocument/2006/relationships/slide" Target="/ppt/slides/slide8.xml" Id="R4f3d04d9ab944495" /><Relationship Type="http://schemas.openxmlformats.org/officeDocument/2006/relationships/slide" Target="/ppt/slides/slide9.xml" Id="Rec3bf8198b7b4380" /><Relationship Type="http://schemas.openxmlformats.org/officeDocument/2006/relationships/slide" Target="/ppt/slides/slide10.xml" Id="Rf3af461c07144b76" /><Relationship Type="http://schemas.openxmlformats.org/officeDocument/2006/relationships/slide" Target="/ppt/slides/slide11.xml" Id="R131b4854680c4943" /><Relationship Type="http://schemas.openxmlformats.org/officeDocument/2006/relationships/slide" Target="/ppt/slides/slide12.xml" Id="R7fa562ceeac94be8" /><Relationship Type="http://schemas.openxmlformats.org/officeDocument/2006/relationships/slide" Target="/ppt/slides/slide13.xml" Id="Rb1e2783f163145e5" /><Relationship Type="http://schemas.openxmlformats.org/officeDocument/2006/relationships/slide" Target="/ppt/slides/slide14.xml" Id="Rdfe588f11ec74a00" /><Relationship Type="http://schemas.openxmlformats.org/officeDocument/2006/relationships/slide" Target="/ppt/slides/slide15.xml" Id="Rfabdf3ecd9044b78" /><Relationship Type="http://schemas.openxmlformats.org/officeDocument/2006/relationships/slide" Target="/ppt/slides/slide16.xml" Id="Ra58ebce36e2c4985" /><Relationship Type="http://schemas.openxmlformats.org/officeDocument/2006/relationships/slide" Target="/ppt/slides/slide17.xml" Id="Rd88210396cdd44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8bb303edc94d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b303ba7f7f43de" /><Relationship Type="http://schemas.openxmlformats.org/officeDocument/2006/relationships/notesMaster" Target="/ppt/notesMasters/notesMaster1.xml" Id="Ree5ad85257e340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bfdeb4b8d04a74" /><Relationship Type="http://schemas.openxmlformats.org/officeDocument/2006/relationships/notesMaster" Target="/ppt/notesMasters/notesMaster1.xml" Id="R23509790cecb4a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18ac0a771340e7" /><Relationship Type="http://schemas.openxmlformats.org/officeDocument/2006/relationships/notesMaster" Target="/ppt/notesMasters/notesMaster1.xml" Id="Rd84f0d5754e040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a9845ceb8444b9" /><Relationship Type="http://schemas.openxmlformats.org/officeDocument/2006/relationships/notesMaster" Target="/ppt/notesMasters/notesMaster1.xml" Id="Rc1f0a1659a0f49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e5c501a0e24c7d" /><Relationship Type="http://schemas.openxmlformats.org/officeDocument/2006/relationships/notesMaster" Target="/ppt/notesMasters/notesMaster1.xml" Id="Re0a8db20be404f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2781fb9804467c" /><Relationship Type="http://schemas.openxmlformats.org/officeDocument/2006/relationships/notesMaster" Target="/ppt/notesMasters/notesMaster1.xml" Id="R9e33ad55e5b447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179baebd7949df" /><Relationship Type="http://schemas.openxmlformats.org/officeDocument/2006/relationships/notesMaster" Target="/ppt/notesMasters/notesMaster1.xml" Id="R37cff30e33e14b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443b0f63f6490b" /><Relationship Type="http://schemas.openxmlformats.org/officeDocument/2006/relationships/notesMaster" Target="/ppt/notesMasters/notesMaster1.xml" Id="R8a99576ba92146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2f57bafe964c7f" /><Relationship Type="http://schemas.openxmlformats.org/officeDocument/2006/relationships/notesMaster" Target="/ppt/notesMasters/notesMaster1.xml" Id="Rb69b7749c4b341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af0645f3164ae8" /><Relationship Type="http://schemas.openxmlformats.org/officeDocument/2006/relationships/notesMaster" Target="/ppt/notesMasters/notesMaster1.xml" Id="R6f143d1a317f41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37ad74207a4982" /><Relationship Type="http://schemas.openxmlformats.org/officeDocument/2006/relationships/notesMaster" Target="/ppt/notesMasters/notesMaster1.xml" Id="R17e55a258c0d40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f5219db3fe42dc" /><Relationship Type="http://schemas.openxmlformats.org/officeDocument/2006/relationships/notesMaster" Target="/ppt/notesMasters/notesMaster1.xml" Id="Rf32f00da20b54a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ac618e88024849" /><Relationship Type="http://schemas.openxmlformats.org/officeDocument/2006/relationships/notesMaster" Target="/ppt/notesMasters/notesMaster1.xml" Id="Rfb24c0df963e48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f4c01a78454804" /><Relationship Type="http://schemas.openxmlformats.org/officeDocument/2006/relationships/notesMaster" Target="/ppt/notesMasters/notesMaster1.xml" Id="R3262259feedc43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3edd8770b7467d" /><Relationship Type="http://schemas.openxmlformats.org/officeDocument/2006/relationships/notesMaster" Target="/ppt/notesMasters/notesMaster1.xml" Id="Rdbc9ee9a2fa042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248eeed3514c4b" /><Relationship Type="http://schemas.openxmlformats.org/officeDocument/2006/relationships/notesMaster" Target="/ppt/notesMasters/notesMaster1.xml" Id="R4cf74cd042d048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82a5d77941b44c0" /><Relationship Type="http://schemas.openxmlformats.org/officeDocument/2006/relationships/notesMaster" Target="/ppt/notesMasters/notesMaster1.xml" Id="R236557156c3446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Current 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application code was changed from Microsoft Entra sign-in to Amazon Cognito.</a:t>
            </a:r>
          </a:p>
          <a:p xmlns:a="http://schemas.openxmlformats.org/drawingml/2006/main">
            <a:r>
              <a:t>The user created the Cognito user pool, web app client and first user in AWS.</a:t>
            </a:r>
          </a:p>
          <a:p xmlns:a="http://schemas.openxmlformats.org/drawingml/2006/main">
            <a:r>
              <a:t>Deployment templates and instructions were prepared for AWS hosting and SQL</a:t>
            </a:r>
          </a:p>
          <a:p xmlns:a="http://schemas.openxmlformats.org/drawingml/2006/main">
            <a:r>
              <a:t>Server. Local build, policy, payment, redirect and template checks passed.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**This is not yet a completed cloud deployment.** No ECS application stack or RDS</a:t>
            </a:r>
          </a:p>
          <a:p xmlns:a="http://schemas.openxmlformats.org/drawingml/2006/main">
            <a:r>
              <a:t>database was deployed during this work, and no existing school database was</a:t>
            </a:r>
          </a:p>
          <a:p xmlns:a="http://schemas.openxmlformats.org/drawingml/2006/main">
            <a:r>
              <a:t>transferred to AWS. A complete successful staff login and logout have not been</a:t>
            </a:r>
          </a:p>
          <a:p xmlns:a="http://schemas.openxmlformats.org/drawingml/2006/main">
            <a:r>
              <a:t>confirmed. The most recent reported issue was Cognito rejecting logout; the</a:t>
            </a:r>
          </a:p>
          <a:p xmlns:a="http://schemas.openxmlformats.org/drawingml/2006/main">
            <a:r>
              <a:t>required sign-out URL was provided, but its resolution has not been confirmed.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record distinguishes changes made to code, AWS console steps reported by</a:t>
            </a:r>
          </a:p>
          <a:p xmlns:a="http://schemas.openxmlformats.org/drawingml/2006/main">
            <a:r>
              <a:t>the user, local test evidence, and work still outstanding.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photograph: SMS.Web/wwwroot/Images/front_view.png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Current 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application code was changed from Microsoft Entra sign-in to Amazon Cognito.</a:t>
            </a:r>
          </a:p>
          <a:p xmlns:a="http://schemas.openxmlformats.org/drawingml/2006/main">
            <a:r>
              <a:t>The user created the Cognito user pool, web app client and first user in AWS.</a:t>
            </a:r>
          </a:p>
          <a:p xmlns:a="http://schemas.openxmlformats.org/drawingml/2006/main">
            <a:r>
              <a:t>Deployment templates and instructions were prepared for AWS hosting and SQL</a:t>
            </a:r>
          </a:p>
          <a:p xmlns:a="http://schemas.openxmlformats.org/drawingml/2006/main">
            <a:r>
              <a:t>Server. Local build, policy, payment, redirect and template checks passed.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**This is not yet a completed cloud deployment.** No ECS application stack or RDS</a:t>
            </a:r>
          </a:p>
          <a:p xmlns:a="http://schemas.openxmlformats.org/drawingml/2006/main">
            <a:r>
              <a:t>database was deployed during this work, and no existing school database was</a:t>
            </a:r>
          </a:p>
          <a:p xmlns:a="http://schemas.openxmlformats.org/drawingml/2006/main">
            <a:r>
              <a:t>transferred to AWS. A complete successful staff login and logout have not been</a:t>
            </a:r>
          </a:p>
          <a:p xmlns:a="http://schemas.openxmlformats.org/drawingml/2006/main">
            <a:r>
              <a:t>confirmed. The most recent reported issue was Cognito rejecting logout; the</a:t>
            </a:r>
          </a:p>
          <a:p xmlns:a="http://schemas.openxmlformats.org/drawingml/2006/main">
            <a:r>
              <a:t>required sign-out URL was provided, but its resolution has not been confirmed.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record distinguishes changes made to code, AWS console steps reported by</a:t>
            </a:r>
          </a:p>
          <a:p xmlns:a="http://schemas.openxmlformats.org/drawingml/2006/main">
            <a:r>
              <a:t>the user, local test evidence, and work still outstanding.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Why the change was requested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original app used Microsoft identity services and SQL Server. Difficulty</a:t>
            </a:r>
          </a:p>
          <a:p xmlns:a="http://schemas.openxmlformats.org/drawingml/2006/main">
            <a:r>
              <a:t>obtaining a test SQL database through the user's Azure account prompted a review</a:t>
            </a:r>
          </a:p>
          <a:p xmlns:a="http://schemas.openxmlformats.org/drawingml/2006/main">
            <a:r>
              <a:t>of AWS database options. The decision then expanded to moving identity, hosting</a:t>
            </a:r>
          </a:p>
          <a:p xmlns:a="http://schemas.openxmlformats.org/drawingml/2006/main">
            <a:r>
              <a:t>and the database to AWS.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 Server was retained to preserve existing Entity Framework migrations,</a:t>
            </a:r>
          </a:p>
          <a:p xmlns:a="http://schemas.openxmlformats.org/drawingml/2006/main">
            <a:r>
              <a:t>student ledgers, payments and other data models. Migrating to PostgreSQL or MySQL</a:t>
            </a:r>
          </a:p>
          <a:p xmlns:a="http://schemas.openxmlformats.org/drawingml/2006/main">
            <a:r>
              <a:t>was not part of this work. AWS hosting does not require changing the .NET/Razor</a:t>
            </a:r>
          </a:p>
          <a:p xmlns:a="http://schemas.openxmlformats.org/drawingml/2006/main">
            <a:r>
              <a:t>application framework. The existing exchange-rate API remains an external</a:t>
            </a:r>
          </a:p>
          <a:p xmlns:a="http://schemas.openxmlformats.org/drawingml/2006/main">
            <a:r>
              <a:t>application integration; it was not replaced with an AWS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AWS Free Tier/database eligibility was discussed, but no assurance was given that</a:t>
            </a:r>
          </a:p>
          <a:p xmlns:a="http://schemas.openxmlformats.org/drawingml/2006/main">
            <a:r>
              <a:t>the complete hosting stack is free. Pricing, credits, quotas and region/instance</a:t>
            </a:r>
          </a:p>
          <a:p xmlns:a="http://schemas.openxmlformats.org/drawingml/2006/main">
            <a:r>
              <a:t>eligibility must be checked in the account before resources are created.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Why the change was requested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original app used Microsoft identity services and SQL Server. Difficulty</a:t>
            </a:r>
          </a:p>
          <a:p xmlns:a="http://schemas.openxmlformats.org/drawingml/2006/main">
            <a:r>
              <a:t>obtaining a test SQL database through the user's Azure account prompted a review</a:t>
            </a:r>
          </a:p>
          <a:p xmlns:a="http://schemas.openxmlformats.org/drawingml/2006/main">
            <a:r>
              <a:t>of AWS database options. The decision then expanded to moving identity, hosting</a:t>
            </a:r>
          </a:p>
          <a:p xmlns:a="http://schemas.openxmlformats.org/drawingml/2006/main">
            <a:r>
              <a:t>and the database to AWS.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 Server was retained to preserve existing Entity Framework migrations,</a:t>
            </a:r>
          </a:p>
          <a:p xmlns:a="http://schemas.openxmlformats.org/drawingml/2006/main">
            <a:r>
              <a:t>student ledgers, payments and other data models. Migrating to PostgreSQL or MySQL</a:t>
            </a:r>
          </a:p>
          <a:p xmlns:a="http://schemas.openxmlformats.org/drawingml/2006/main">
            <a:r>
              <a:t>was not part of this work. AWS hosting does not require changing the .NET/Razor</a:t>
            </a:r>
          </a:p>
          <a:p xmlns:a="http://schemas.openxmlformats.org/drawingml/2006/main">
            <a:r>
              <a:t>application framework. The existing exchange-rate API remains an external</a:t>
            </a:r>
          </a:p>
          <a:p xmlns:a="http://schemas.openxmlformats.org/drawingml/2006/main">
            <a:r>
              <a:t>application integration; it was not replaced with an AWS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AWS Free Tier/database eligibility was discussed, but no assurance was given that</a:t>
            </a:r>
          </a:p>
          <a:p xmlns:a="http://schemas.openxmlformats.org/drawingml/2006/main">
            <a:r>
              <a:t>the complete hosting stack is free. Pricing, credits, quotas and region/instance</a:t>
            </a:r>
          </a:p>
          <a:p xmlns:a="http://schemas.openxmlformats.org/drawingml/2006/main">
            <a:r>
              <a:t>eligibility must be checked in the account before resources are created.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AWS resources and settings established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user navigated from the AWS project settings page into AWS Console and</a:t>
            </a:r>
          </a:p>
          <a:p xmlns:a="http://schemas.openxmlformats.org/drawingml/2006/main">
            <a:r>
              <a:t>created a Cognito application/user pool. This is separate from AWS account/project</a:t>
            </a:r>
          </a:p>
          <a:p xmlns:a="http://schemas.openxmlformats.org/drawingml/2006/main">
            <a:r>
              <a:t>membership: console members administer AWS, while Cognito users sign in to SMS.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Item | Recorded value |</a:t>
            </a:r>
          </a:p>
          <a:p xmlns:a="http://schemas.openxmlformats.org/drawingml/2006/main">
            <a:r>
              <a:t>| --- | --- |</a:t>
            </a:r>
          </a:p>
          <a:p xmlns:a="http://schemas.openxmlformats.org/drawingml/2006/main">
            <a:r>
              <a:t>| User pool display name | User pool - 8kh0dr |</a:t>
            </a:r>
          </a:p>
          <a:p xmlns:a="http://schemas.openxmlformats.org/drawingml/2006/main">
            <a:r>
              <a:t>| User pool ID | `eu-north-1_LOhGBF9su` |</a:t>
            </a:r>
          </a:p>
          <a:p xmlns:a="http://schemas.openxmlformats.org/drawingml/2006/main">
            <a:r>
              <a:t>| App client display name | St Martin De Porress Primary Scool (console spelling) |</a:t>
            </a:r>
          </a:p>
          <a:p xmlns:a="http://schemas.openxmlformats.org/drawingml/2006/main">
            <a:r>
              <a:t>| App client ID | `6ulsn0evv7q8qmoeo69al441sg` |</a:t>
            </a:r>
          </a:p>
          <a:p xmlns:a="http://schemas.openxmlformats.org/drawingml/2006/main">
            <a:r>
              <a:t>| Application type | Traditional web application |</a:t>
            </a:r>
          </a:p>
          <a:p xmlns:a="http://schemas.openxmlformats.org/drawingml/2006/main">
            <a:r>
              <a:t>| Issuer / Authority | `https://cognito-idp.eu-north-1.amazonaws.com/eu-north-1_LOhGBF9su` |</a:t>
            </a:r>
          </a:p>
          <a:p xmlns:a="http://schemas.openxmlformats.org/drawingml/2006/main">
            <a:r>
              <a:t>| Managed-login domain | `https://eu-north-1lohgbf9su.auth.eu-north-1.amazoncognito.com` |</a:t>
            </a:r>
          </a:p>
          <a:p xmlns:a="http://schemas.openxmlformats.org/drawingml/2006/main">
            <a:r>
              <a:t>| Local callback URL | `https://localhost:7246/signin-oidc` |</a:t>
            </a:r>
          </a:p>
          <a:p xmlns:a="http://schemas.openxmlformats.org/drawingml/2006/main">
            <a:r>
              <a:t>| Local allowed sign-out URL | `https://localhost:7246/` |</a:t>
            </a:r>
          </a:p>
          <a:p xmlns:a="http://schemas.openxmlformats.org/drawingml/2006/main">
            <a:r>
              <a:t>| OAuth grant | Authorization code |</a:t>
            </a:r>
          </a:p>
          <a:p xmlns:a="http://schemas.openxmlformats.org/drawingml/2006/main">
            <a:r>
              <a:t>| Required OIDC scopes | `openid`, `email`, `profile`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Email-only sign-in and disabled public self-registration were the instructed</a:t>
            </a:r>
          </a:p>
          <a:p xmlns:a="http://schemas.openxmlformats.org/drawingml/2006/main">
            <a:r>
              <a:t>configuration. The console showed a Cognito user-pool identity provider and</a:t>
            </a:r>
          </a:p>
          <a:p xmlns:a="http://schemas.openxmlformats.org/drawingml/2006/main">
            <a:r>
              <a:t>managed-login styling assigned to the app client. Scope and URL edits were</a:t>
            </a:r>
          </a:p>
          <a:p xmlns:a="http://schemas.openxmlformats.org/drawingml/2006/main">
            <a:r>
              <a:t>guided step by step. Their final live console state was not independently</a:t>
            </a:r>
          </a:p>
          <a:p xmlns:a="http://schemas.openxmlformats.org/drawingml/2006/main">
            <a:r>
              <a:t>audited through an AWS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user reported creating the first Cognito user, sending an invitation and</a:t>
            </a:r>
          </a:p>
          <a:p xmlns:a="http://schemas.openxmlformats.org/drawingml/2006/main">
            <a:r>
              <a:t>receiving the temporary password. A temporary password is handled only in the</a:t>
            </a:r>
          </a:p>
          <a:p xmlns:a="http://schemas.openxmlformats.org/drawingml/2006/main">
            <a:r>
              <a:t>Cognito login flow, including any required change to a permanent password.</a:t>
            </a:r>
          </a:p>
          <a:p xmlns:a="http://schemas.openxmlformats.org/drawingml/2006/main">
            <a:r>
              <a:t>Neither password is stored in the application source or this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AWS setup wizard displayed sample Go code. That sample was not integrated;</a:t>
            </a:r>
          </a:p>
          <a:p xmlns:a="http://schemas.openxmlformats.org/drawingml/2006/main">
            <a:r>
              <a:t>the existing .NET application uses its own OpenID Connect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Testing and security work done alongside migration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initial local test/UAT pass preceded the migration implementation. It found</a:t>
            </a:r>
          </a:p>
          <a:p xmlns:a="http://schemas.openxmlformats.org/drawingml/2006/main">
            <a:r>
              <a:t>anonymous management-list access, a service-level reversed-payment correction</a:t>
            </a:r>
          </a:p>
          <a:p xmlns:a="http://schemas.openxmlformats.org/drawingml/2006/main">
            <a:r>
              <a:t>gap, logout concerns, and vulnerable cryptography package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user then authorized corrections: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Required authentication for protected areas and registered the workspace</a:t>
            </a:r>
          </a:p>
          <a:p xmlns:a="http://schemas.openxmlformats.org/drawingml/2006/main">
            <a:r>
              <a:t>  access filter globally. Anonymous management pages now challenge sign-in.</a:t>
            </a:r>
          </a:p>
          <a:p xmlns:a="http://schemas.openxmlformats.org/drawingml/2006/main">
            <a:r>
              <a:t>- Rejected correction of reversed originals in PaymentService, and serialized</a:t>
            </a:r>
          </a:p>
          <a:p xmlns:a="http://schemas.openxmlformats.org/drawingml/2006/main">
            <a:r>
              <a:t>  recording/correction/reversal per ledger using SQL application locks and</a:t>
            </a:r>
          </a:p>
          <a:p xmlns:a="http://schemas.openxmlformats.org/drawingml/2006/main">
            <a:r>
              <a:t>  transactions. Concurrent reversal attempts are checked.</a:t>
            </a:r>
          </a:p>
          <a:p xmlns:a="http://schemas.openxmlformats.org/drawingml/2006/main">
            <a:r>
              <a:t>- Hardened logout as described above.</a:t>
            </a:r>
          </a:p>
          <a:p xmlns:a="http://schemas.openxmlformats.org/drawingml/2006/main">
            <a:r>
              <a:t>- Updated System.Security.Cryptography.Xml and Pkcs to 10.0.13. The dependency</a:t>
            </a:r>
          </a:p>
          <a:p xmlns:a="http://schemas.openxmlformats.org/drawingml/2006/main">
            <a:r>
              <a:t>  audit run at that stage reported no known vulnerable packages in the three</a:t>
            </a:r>
          </a:p>
          <a:p xmlns:a="http://schemas.openxmlformats.org/drawingml/2006/main">
            <a:r>
              <a:t>  application projects; this was not a complete penetration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payment/access fixes were related release-readiness work, not prerequisites</a:t>
            </a:r>
          </a:p>
          <a:p xmlns:a="http://schemas.openxmlformats.org/drawingml/2006/main">
            <a:r>
              <a:t>specific to Cognito. Reversed payments remain in accounting history; to reinstate</a:t>
            </a:r>
          </a:p>
          <a:p xmlns:a="http://schemas.openxmlformats.org/drawingml/2006/main">
            <a:r>
              <a:t>a mistakenly reversed payment, record a new payment instead of editing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Recorded final local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Check | Result / limit |</a:t>
            </a:r>
          </a:p>
          <a:p xmlns:a="http://schemas.openxmlformats.org/drawingml/2006/main">
            <a:r>
              <a:t>| --- | --- |</a:t>
            </a:r>
          </a:p>
          <a:p xmlns:a="http://schemas.openxmlformats.org/drawingml/2006/main">
            <a:r>
              <a:t>| Solution build | Passed: 0 errors, 32 warnings; compiler warnings remain |</a:t>
            </a:r>
          </a:p>
          <a:p xmlns:a="http://schemas.openxmlformats.org/drawingml/2006/main">
            <a:r>
              <a:t>| Identity, workspace and assignment checks | 185 passed |</a:t>
            </a:r>
          </a:p>
          <a:p xmlns:a="http://schemas.openxmlformats.org/drawingml/2006/main">
            <a:r>
              <a:t>| SQL finance integration | 37 passed in a separate synthetic database |</a:t>
            </a:r>
          </a:p>
          <a:p xmlns:a="http://schemas.openxmlformats.org/drawingml/2006/main">
            <a:r>
              <a:t>| Anonymous protected-route checks | 21 passed; redirects target configured Cognito |</a:t>
            </a:r>
          </a:p>
          <a:p xmlns:a="http://schemas.openxmlformats.org/drawingml/2006/main">
            <a:r>
              <a:t>| AWS runtime checks | 14 passed: public/health, logout guards, correct client/domain, code flow, PKCE, state/nonce, scopes and HTTPS callback |</a:t>
            </a:r>
          </a:p>
          <a:p xmlns:a="http://schemas.openxmlformats.org/drawingml/2006/main">
            <a:r>
              <a:t>| Finance chart and submit-lock JavaScript | Both suites passed |</a:t>
            </a:r>
          </a:p>
          <a:p xmlns:a="http://schemas.openxmlformats.org/drawingml/2006/main">
            <a:r>
              <a:t>| Template YAML, references and dependency graph | All three templates passed |</a:t>
            </a:r>
          </a:p>
          <a:p xmlns:a="http://schemas.openxmlformats.org/drawingml/2006/main">
            <a:r>
              <a:t>| CloudFormation schema checks | cfn-lint 1.39.0, eu-north-1: exit code 0 |</a:t>
            </a:r>
          </a:p>
          <a:p xmlns:a="http://schemas.openxmlformats.org/drawingml/2006/main">
            <a:r>
              <a:t>| Docker build / cloud deployment | Not executed |</a:t>
            </a:r>
          </a:p>
          <a:p xmlns:a="http://schemas.openxmlformats.org/drawingml/2006/main">
            <a:r>
              <a:t>| Complete authenticated staff UAT | Not completed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automated redirect smoke test used a clearly identified placeholder client</a:t>
            </a:r>
          </a:p>
          <a:p xmlns:a="http://schemas.openxmlformats.org/drawingml/2006/main">
            <a:r>
              <a:t>secret and did **not** exchange tokens or sign in a user. This is why passing</a:t>
            </a:r>
          </a:p>
          <a:p xmlns:a="http://schemas.openxmlformats.org/drawingml/2006/main">
            <a:r>
              <a:t>redirect tests did not establish that actual Cognito scopes, email verification,</a:t>
            </a:r>
          </a:p>
          <a:p xmlns:a="http://schemas.openxmlformats.org/drawingml/2006/main">
            <a:r>
              <a:t>the private secret or AWS console URL settings were correct.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tests used `SMS_UAT_20261015` and `SMS_FINANCE_UAT_20261015`, not a deployed</a:t>
            </a:r>
          </a:p>
          <a:p xmlns:a="http://schemas.openxmlformats.org/drawingml/2006/main">
            <a:r>
              <a:t>RDS database. Temporary test servers were stopped after testing. Synthetic test</a:t>
            </a:r>
          </a:p>
          <a:p xmlns:a="http://schemas.openxmlformats.org/drawingml/2006/main">
            <a:r>
              <a:t>data and local evidence were retained. Existing unrelated project-file edits</a:t>
            </a:r>
          </a:p>
          <a:p xmlns:a="http://schemas.openxmlformats.org/drawingml/2006/main">
            <a:r>
              <a:t>were preserved; no commits or deployment were performed as part of this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files include `tests/aws-release-build.log`,</a:t>
            </a:r>
          </a:p>
          <a:p xmlns:a="http://schemas.openxmlformats.org/drawingml/2006/main">
            <a:r>
              <a:t>`tests/aws-complete-workspace.log`, `tests/aws-complete-finance.log`,</a:t>
            </a:r>
          </a:p>
          <a:p xmlns:a="http://schemas.openxmlformats.org/drawingml/2006/main">
            <a:r>
              <a:t>`tests/aws-complete-anonymous.log`, `tests/aws-runtime-results.log`,</a:t>
            </a:r>
          </a:p>
          <a:p xmlns:a="http://schemas.openxmlformats.org/drawingml/2006/main">
            <a:r>
              <a:t>`tests/aws-template-validation.log` and `tests/aws-cfn-lint-results.log`.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AWS resources and settings established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user navigated from the AWS project settings page into AWS Console and</a:t>
            </a:r>
          </a:p>
          <a:p xmlns:a="http://schemas.openxmlformats.org/drawingml/2006/main">
            <a:r>
              <a:t>created a Cognito application/user pool. This is separate from AWS account/project</a:t>
            </a:r>
          </a:p>
          <a:p xmlns:a="http://schemas.openxmlformats.org/drawingml/2006/main">
            <a:r>
              <a:t>membership: console members administer AWS, while Cognito users sign in to SMS.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Item | Recorded value |</a:t>
            </a:r>
          </a:p>
          <a:p xmlns:a="http://schemas.openxmlformats.org/drawingml/2006/main">
            <a:r>
              <a:t>| --- | --- |</a:t>
            </a:r>
          </a:p>
          <a:p xmlns:a="http://schemas.openxmlformats.org/drawingml/2006/main">
            <a:r>
              <a:t>| User pool display name | User pool - 8kh0dr |</a:t>
            </a:r>
          </a:p>
          <a:p xmlns:a="http://schemas.openxmlformats.org/drawingml/2006/main">
            <a:r>
              <a:t>| User pool ID | `eu-north-1_LOhGBF9su` |</a:t>
            </a:r>
          </a:p>
          <a:p xmlns:a="http://schemas.openxmlformats.org/drawingml/2006/main">
            <a:r>
              <a:t>| App client display name | St Martin De Porress Primary Scool (console spelling) |</a:t>
            </a:r>
          </a:p>
          <a:p xmlns:a="http://schemas.openxmlformats.org/drawingml/2006/main">
            <a:r>
              <a:t>| App client ID | `6ulsn0evv7q8qmoeo69al441sg` |</a:t>
            </a:r>
          </a:p>
          <a:p xmlns:a="http://schemas.openxmlformats.org/drawingml/2006/main">
            <a:r>
              <a:t>| Application type | Traditional web application |</a:t>
            </a:r>
          </a:p>
          <a:p xmlns:a="http://schemas.openxmlformats.org/drawingml/2006/main">
            <a:r>
              <a:t>| Issuer / Authority | `https://cognito-idp.eu-north-1.amazonaws.com/eu-north-1_LOhGBF9su` |</a:t>
            </a:r>
          </a:p>
          <a:p xmlns:a="http://schemas.openxmlformats.org/drawingml/2006/main">
            <a:r>
              <a:t>| Managed-login domain | `https://eu-north-1lohgbf9su.auth.eu-north-1.amazoncognito.com` |</a:t>
            </a:r>
          </a:p>
          <a:p xmlns:a="http://schemas.openxmlformats.org/drawingml/2006/main">
            <a:r>
              <a:t>| Local callback URL | `https://localhost:7246/signin-oidc` |</a:t>
            </a:r>
          </a:p>
          <a:p xmlns:a="http://schemas.openxmlformats.org/drawingml/2006/main">
            <a:r>
              <a:t>| Local allowed sign-out URL | `https://localhost:7246/` |</a:t>
            </a:r>
          </a:p>
          <a:p xmlns:a="http://schemas.openxmlformats.org/drawingml/2006/main">
            <a:r>
              <a:t>| OAuth grant | Authorization code |</a:t>
            </a:r>
          </a:p>
          <a:p xmlns:a="http://schemas.openxmlformats.org/drawingml/2006/main">
            <a:r>
              <a:t>| Required OIDC scopes | `openid`, `email`, `profile`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Email-only sign-in and disabled public self-registration were the instructed</a:t>
            </a:r>
          </a:p>
          <a:p xmlns:a="http://schemas.openxmlformats.org/drawingml/2006/main">
            <a:r>
              <a:t>configuration. The console showed a Cognito user-pool identity provider and</a:t>
            </a:r>
          </a:p>
          <a:p xmlns:a="http://schemas.openxmlformats.org/drawingml/2006/main">
            <a:r>
              <a:t>managed-login styling assigned to the app client. Scope and URL edits were</a:t>
            </a:r>
          </a:p>
          <a:p xmlns:a="http://schemas.openxmlformats.org/drawingml/2006/main">
            <a:r>
              <a:t>guided step by step. Their final live console state was not independently</a:t>
            </a:r>
          </a:p>
          <a:p xmlns:a="http://schemas.openxmlformats.org/drawingml/2006/main">
            <a:r>
              <a:t>audited through an AWS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user reported creating the first Cognito user, sending an invitation and</a:t>
            </a:r>
          </a:p>
          <a:p xmlns:a="http://schemas.openxmlformats.org/drawingml/2006/main">
            <a:r>
              <a:t>receiving the temporary password. A temporary password is handled only in the</a:t>
            </a:r>
          </a:p>
          <a:p xmlns:a="http://schemas.openxmlformats.org/drawingml/2006/main">
            <a:r>
              <a:t>Cognito login flow, including any required change to a permanent password.</a:t>
            </a:r>
          </a:p>
          <a:p xmlns:a="http://schemas.openxmlformats.org/drawingml/2006/main">
            <a:r>
              <a:t>Neither password is stored in the application source or this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AWS setup wizard displayed sample Go code. That sample was not integrated;</a:t>
            </a:r>
          </a:p>
          <a:p xmlns:a="http://schemas.openxmlformats.org/drawingml/2006/main">
            <a:r>
              <a:t>the existing .NET application uses its own OpenID Connect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Application changes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Authentication and identity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Replaced Microsoft.Identity.Web/Microsoft.Identity.Web.UI authentication with</a:t>
            </a:r>
          </a:p>
          <a:p xmlns:a="http://schemas.openxmlformats.org/drawingml/2006/main">
            <a:r>
              <a:t>  standard ASP.NET Core cookie and OpenID Connect authentication for Cognito.</a:t>
            </a:r>
          </a:p>
          <a:p xmlns:a="http://schemas.openxmlformats.org/drawingml/2006/main">
            <a:r>
              <a:t>- Configured authorization-code flow with PKCE, issuer/audience/signature</a:t>
            </a:r>
          </a:p>
          <a:p xmlns:a="http://schemas.openxmlformats.org/drawingml/2006/main">
            <a:r>
              <a:t>  validation through the OIDC middleware, and scopes `openid email profile`.</a:t>
            </a:r>
          </a:p>
          <a:p xmlns:a="http://schemas.openxmlformats.org/drawingml/2006/main">
            <a:r>
              <a:t>- Kept the public Staff portal route; it now redirects to Cognito.</a:t>
            </a:r>
          </a:p>
          <a:p xmlns:a="http://schemas.openxmlformats.org/drawingml/2006/main">
            <a:r>
              <a:t>- Required a nonempty email claim with `email_verified=true` after ID-token</a:t>
            </a:r>
          </a:p>
          <a:p xmlns:a="http://schemas.openxmlformats.org/drawingml/2006/main">
            <a:r>
              <a:t>  validation. Unverified users cannot complete app sign-in.</a:t>
            </a:r>
          </a:p>
          <a:p xmlns:a="http://schemas.openxmlformats.org/drawingml/2006/main">
            <a:r>
              <a:t>- Used Cognito's `sub` claim as the identity subject and renamed the app interface</a:t>
            </a:r>
          </a:p>
          <a:p xmlns:a="http://schemas.openxmlformats.org/drawingml/2006/main">
            <a:r>
              <a:t>  property from AzureId to IdentitySubject.</a:t>
            </a:r>
          </a:p>
          <a:p xmlns:a="http://schemas.openxmlformats.org/drawingml/2006/main">
            <a:r>
              <a:t>- Matched existing SQL user records by verified email, case-insensitively, to</a:t>
            </a:r>
          </a:p>
          <a:p xmlns:a="http://schemas.openxmlformats.org/drawingml/2006/main">
            <a:r>
              <a:t>  preserve their active status, roles and groups. Email should be kept consistent</a:t>
            </a:r>
          </a:p>
          <a:p xmlns:a="http://schemas.openxmlformats.org/drawingml/2006/main">
            <a:r>
              <a:t>  when creating Cognito accounts for migrated staff.</a:t>
            </a:r>
          </a:p>
          <a:p xmlns:a="http://schemas.openxmlformats.org/drawingml/2006/main">
            <a:r>
              <a:t>- Used the verified email as a display-name fallback where no name claim exists.</a:t>
            </a:r>
          </a:p>
          <a:p xmlns:a="http://schemas.openxmlformats.org/drawingml/2006/main">
            <a:r>
              <a:t>- Kept authentication cookies secure and HTTP-only. Disabled sliding expiration,</a:t>
            </a:r>
          </a:p>
          <a:p xmlns:a="http://schemas.openxmlformats.org/drawingml/2006/main">
            <a:r>
              <a:t>  used the validated ID token's lifetime, and did not save tokens in the cookie.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 passwords, sessions and Microsoft app-registration settings were not</a:t>
            </a:r>
          </a:p>
          <a:p xmlns:a="http://schemas.openxmlformats.org/drawingml/2006/main">
            <a:r>
              <a:t>transferred into Cognito. Existing staff need Cognito accounts/credentials.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Administrator and rights behavior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earlier unrestricted "first login becomes administrator" behavior was</a:t>
            </a:r>
          </a:p>
          <a:p xmlns:a="http://schemas.openxmlformats.org/drawingml/2006/main">
            <a:r>
              <a:t>replaced by a restricted bootstrap: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The SQL application's User table must be empty.</a:t>
            </a:r>
          </a:p>
          <a:p xmlns:a="http://schemas.openxmlformats.org/drawingml/2006/main">
            <a:r>
              <a:t>2. The login must have a verified email.</a:t>
            </a:r>
          </a:p>
          <a:p xmlns:a="http://schemas.openxmlformats.org/drawingml/2006/main">
            <a:r>
              <a:t>3. That email must match `Authentication:BootstrapAdminEmail`.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then is the new SQL user active with the ADMIN role. The ADMIN role receives</a:t>
            </a:r>
          </a:p>
          <a:p xmlns:a="http://schemas.openxmlformats.org/drawingml/2006/main">
            <a:r>
              <a:t>all application rights through the existing rights service. Other newly</a:t>
            </a:r>
          </a:p>
          <a:p xmlns:a="http://schemas.openxmlformats.org/drawingml/2006/main">
            <a:r>
              <a:t>provisioned users start inactive with no role; an administrator must activate</a:t>
            </a:r>
          </a:p>
          <a:p xmlns:a="http://schemas.openxmlformats.org/drawingml/2006/main">
            <a:r>
              <a:t>them and assign the appropriate role/group. Existing users retain their SQL</a:t>
            </a:r>
          </a:p>
          <a:p xmlns:a="http://schemas.openxmlformats.org/drawingml/2006/main">
            <a:r>
              <a:t>roles; the bootstrap setting does not automatically promote an existing user.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Being a Cognito user, AWS account owner, or AWS console administrator does not by</a:t>
            </a:r>
          </a:p>
          <a:p xmlns:a="http://schemas.openxmlformats.org/drawingml/2006/main">
            <a:r>
              <a:t>itself grant school-application administration rights.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Logout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Kept logout as an app POST protected by antiforgery validation.</a:t>
            </a:r>
          </a:p>
          <a:p xmlns:a="http://schemas.openxmlformats.org/drawingml/2006/main">
            <a:r>
              <a:t>- Made app GET logout return HTTP 405.</a:t>
            </a:r>
          </a:p>
          <a:p xmlns:a="http://schemas.openxmlformats.org/drawingml/2006/main">
            <a:r>
              <a:t>- Cleared the local application cookie before redirecting to Cognito's `/logout`.</a:t>
            </a:r>
          </a:p>
          <a:p xmlns:a="http://schemas.openxmlformats.org/drawingml/2006/main">
            <a:r>
              <a:t>- Sent `client_id` and the configured `logout_uri` to Cognito.</a:t>
            </a:r>
          </a:p>
          <a:p xmlns:a="http://schemas.openxmlformats.org/drawingml/2006/main">
            <a:r>
              <a:t>- Restricted app return URLs to local paths; the Cognito exit uses its fixed,</a:t>
            </a:r>
          </a:p>
          <a:p xmlns:a="http://schemas.openxmlformats.org/drawingml/2006/main">
            <a:r>
              <a:t>  configured allowed sign-out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Production/runtime preparation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Added startup validation for required Cognito configuration and the database</a:t>
            </a:r>
          </a:p>
          <a:p xmlns:a="http://schemas.openxmlformats.org/drawingml/2006/main">
            <a:r>
              <a:t>  connection setting, with messages that do not print secret values.</a:t>
            </a:r>
          </a:p>
          <a:p xmlns:a="http://schemas.openxmlformats.org/drawingml/2006/main">
            <a:r>
              <a:t>- Added production configuration that clears the local SQL connection and local</a:t>
            </a:r>
          </a:p>
          <a:p xmlns:a="http://schemas.openxmlformats.org/drawingml/2006/main">
            <a:r>
              <a:t>  logout URL so deployment must supply them explicitly.</a:t>
            </a:r>
          </a:p>
          <a:p xmlns:a="http://schemas.openxmlformats.org/drawingml/2006/main">
            <a:r>
              <a:t>- Processed trusted forwarded headers before HTTPS/authentication to preserve</a:t>
            </a:r>
          </a:p>
          <a:p xmlns:a="http://schemas.openxmlformats.org/drawingml/2006/main">
            <a:r>
              <a:t>  HTTPS callback URLs behind an AWS load balancer.</a:t>
            </a:r>
          </a:p>
          <a:p xmlns:a="http://schemas.openxmlformats.org/drawingml/2006/main">
            <a:r>
              <a:t>- Added `/health`, an HTTP 200 liveness endpoint that does not redirect to HTTPS</a:t>
            </a:r>
          </a:p>
          <a:p xmlns:a="http://schemas.openxmlformats.org/drawingml/2006/main">
            <a:r>
              <a:t>  or initialize authentication. It is not a database readiness check.</a:t>
            </a:r>
          </a:p>
          <a:p xmlns:a="http://schemas.openxmlformats.org/drawingml/2006/main">
            <a:r>
              <a:t>- Added shared, persistent ASP.NET Data Protection key storage for replicas.</a:t>
            </a:r>
          </a:p>
          <a:p xmlns:a="http://schemas.openxmlformats.org/drawingml/2006/main">
            <a:r>
              <a:t>- Disabled optional audit text-file copies in production; SQL audit records</a:t>
            </a:r>
          </a:p>
          <a:p xmlns:a="http://schemas.openxmlformats.org/drawingml/2006/main">
            <a:r>
              <a:t>  remain authoritative and runtime logs can go to CloudWatch.</a:t>
            </a:r>
          </a:p>
          <a:p xmlns:a="http://schemas.openxmlformats.org/drawingml/2006/main">
            <a:r>
              <a:t>- Disabled production startup migrations by default. Added `--migrate-only` for</a:t>
            </a:r>
          </a:p>
          <a:p xmlns:a="http://schemas.openxmlformats.org/drawingml/2006/main">
            <a:r>
              <a:t>  an explicit one-off schema deployment task. Development retains startup</a:t>
            </a:r>
          </a:p>
          <a:p xmlns:a="http://schemas.openxmlformats.org/drawingml/2006/main">
            <a:r>
              <a:t>  migrations unless its configuration disables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Container preparation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Fixed Docker restore ordering to include SMS.Web, SMS.Lib and SMS.Data project</a:t>
            </a:r>
          </a:p>
          <a:p xmlns:a="http://schemas.openxmlformats.org/drawingml/2006/main">
            <a:r>
              <a:t>  files before package restore.</a:t>
            </a:r>
          </a:p>
          <a:p xmlns:a="http://schemas.openxmlformats.org/drawingml/2006/main">
            <a:r>
              <a:t>- Set the container HTTP port to 8080 and retained non-root runtime execution.</a:t>
            </a:r>
          </a:p>
          <a:p xmlns:a="http://schemas.openxmlformats.org/drawingml/2006/main">
            <a:r>
              <a:t>- Added AWS's official RDS CA bundle to the Linux trust store so SQL connections</a:t>
            </a:r>
          </a:p>
          <a:p xmlns:a="http://schemas.openxmlformats.org/drawingml/2006/main">
            <a:r>
              <a:t>  can keep `Encrypt=True;TrustServerCertificate=False`.</a:t>
            </a:r>
          </a:p>
          <a:p xmlns:a="http://schemas.openxmlformats.org/drawingml/2006/main">
            <a:r>
              <a:t>- Excluded local build output, test artifacts, editor/account directories and</a:t>
            </a:r>
          </a:p>
          <a:p xmlns:a="http://schemas.openxmlformats.org/drawingml/2006/main">
            <a:r>
              <a:t>  credential/certificate files from the Docker build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Docker image itself has not been built here because Docker is unavailable.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Application changes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Authentication and identity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Replaced Microsoft.Identity.Web/Microsoft.Identity.Web.UI authentication with</a:t>
            </a:r>
          </a:p>
          <a:p xmlns:a="http://schemas.openxmlformats.org/drawingml/2006/main">
            <a:r>
              <a:t>  standard ASP.NET Core cookie and OpenID Connect authentication for Cognito.</a:t>
            </a:r>
          </a:p>
          <a:p xmlns:a="http://schemas.openxmlformats.org/drawingml/2006/main">
            <a:r>
              <a:t>- Configured authorization-code flow with PKCE, issuer/audience/signature</a:t>
            </a:r>
          </a:p>
          <a:p xmlns:a="http://schemas.openxmlformats.org/drawingml/2006/main">
            <a:r>
              <a:t>  validation through the OIDC middleware, and scopes `openid email profile`.</a:t>
            </a:r>
          </a:p>
          <a:p xmlns:a="http://schemas.openxmlformats.org/drawingml/2006/main">
            <a:r>
              <a:t>- Kept the public Staff portal route; it now redirects to Cognito.</a:t>
            </a:r>
          </a:p>
          <a:p xmlns:a="http://schemas.openxmlformats.org/drawingml/2006/main">
            <a:r>
              <a:t>- Required a nonempty email claim with `email_verified=true` after ID-token</a:t>
            </a:r>
          </a:p>
          <a:p xmlns:a="http://schemas.openxmlformats.org/drawingml/2006/main">
            <a:r>
              <a:t>  validation. Unverified users cannot complete app sign-in.</a:t>
            </a:r>
          </a:p>
          <a:p xmlns:a="http://schemas.openxmlformats.org/drawingml/2006/main">
            <a:r>
              <a:t>- Used Cognito's `sub` claim as the identity subject and renamed the app interface</a:t>
            </a:r>
          </a:p>
          <a:p xmlns:a="http://schemas.openxmlformats.org/drawingml/2006/main">
            <a:r>
              <a:t>  property from AzureId to IdentitySubject.</a:t>
            </a:r>
          </a:p>
          <a:p xmlns:a="http://schemas.openxmlformats.org/drawingml/2006/main">
            <a:r>
              <a:t>- Matched existing SQL user records by verified email, case-insensitively, to</a:t>
            </a:r>
          </a:p>
          <a:p xmlns:a="http://schemas.openxmlformats.org/drawingml/2006/main">
            <a:r>
              <a:t>  preserve their active status, roles and groups. Email should be kept consistent</a:t>
            </a:r>
          </a:p>
          <a:p xmlns:a="http://schemas.openxmlformats.org/drawingml/2006/main">
            <a:r>
              <a:t>  when creating Cognito accounts for migrated staff.</a:t>
            </a:r>
          </a:p>
          <a:p xmlns:a="http://schemas.openxmlformats.org/drawingml/2006/main">
            <a:r>
              <a:t>- Used the verified email as a display-name fallback where no name claim exists.</a:t>
            </a:r>
          </a:p>
          <a:p xmlns:a="http://schemas.openxmlformats.org/drawingml/2006/main">
            <a:r>
              <a:t>- Kept authentication cookies secure and HTTP-only. Disabled sliding expiration,</a:t>
            </a:r>
          </a:p>
          <a:p xmlns:a="http://schemas.openxmlformats.org/drawingml/2006/main">
            <a:r>
              <a:t>  used the validated ID token's lifetime, and did not save tokens in the cookie.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 passwords, sessions and Microsoft app-registration settings were not</a:t>
            </a:r>
          </a:p>
          <a:p xmlns:a="http://schemas.openxmlformats.org/drawingml/2006/main">
            <a:r>
              <a:t>transferred into Cognito. Existing staff need Cognito accounts/credentials.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Administrator and rights behavior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earlier unrestricted "first login becomes administrator" behavior was</a:t>
            </a:r>
          </a:p>
          <a:p xmlns:a="http://schemas.openxmlformats.org/drawingml/2006/main">
            <a:r>
              <a:t>replaced by a restricted bootstrap: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The SQL application's User table must be empty.</a:t>
            </a:r>
          </a:p>
          <a:p xmlns:a="http://schemas.openxmlformats.org/drawingml/2006/main">
            <a:r>
              <a:t>2. The login must have a verified email.</a:t>
            </a:r>
          </a:p>
          <a:p xmlns:a="http://schemas.openxmlformats.org/drawingml/2006/main">
            <a:r>
              <a:t>3. That email must match `Authentication:BootstrapAdminEmail`.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then is the new SQL user active with the ADMIN role. The ADMIN role receives</a:t>
            </a:r>
          </a:p>
          <a:p xmlns:a="http://schemas.openxmlformats.org/drawingml/2006/main">
            <a:r>
              <a:t>all application rights through the existing rights service. Other newly</a:t>
            </a:r>
          </a:p>
          <a:p xmlns:a="http://schemas.openxmlformats.org/drawingml/2006/main">
            <a:r>
              <a:t>provisioned users start inactive with no role; an administrator must activate</a:t>
            </a:r>
          </a:p>
          <a:p xmlns:a="http://schemas.openxmlformats.org/drawingml/2006/main">
            <a:r>
              <a:t>them and assign the appropriate role/group. Existing users retain their SQL</a:t>
            </a:r>
          </a:p>
          <a:p xmlns:a="http://schemas.openxmlformats.org/drawingml/2006/main">
            <a:r>
              <a:t>roles; the bootstrap setting does not automatically promote an existing user.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Being a Cognito user, AWS account owner, or AWS console administrator does not by</a:t>
            </a:r>
          </a:p>
          <a:p xmlns:a="http://schemas.openxmlformats.org/drawingml/2006/main">
            <a:r>
              <a:t>itself grant school-application administration rights.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Logout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Kept logout as an app POST protected by antiforgery validation.</a:t>
            </a:r>
          </a:p>
          <a:p xmlns:a="http://schemas.openxmlformats.org/drawingml/2006/main">
            <a:r>
              <a:t>- Made app GET logout return HTTP 405.</a:t>
            </a:r>
          </a:p>
          <a:p xmlns:a="http://schemas.openxmlformats.org/drawingml/2006/main">
            <a:r>
              <a:t>- Cleared the local application cookie before redirecting to Cognito's `/logout`.</a:t>
            </a:r>
          </a:p>
          <a:p xmlns:a="http://schemas.openxmlformats.org/drawingml/2006/main">
            <a:r>
              <a:t>- Sent `client_id` and the configured `logout_uri` to Cognito.</a:t>
            </a:r>
          </a:p>
          <a:p xmlns:a="http://schemas.openxmlformats.org/drawingml/2006/main">
            <a:r>
              <a:t>- Restricted app return URLs to local paths; the Cognito exit uses its fixed,</a:t>
            </a:r>
          </a:p>
          <a:p xmlns:a="http://schemas.openxmlformats.org/drawingml/2006/main">
            <a:r>
              <a:t>  configured allowed sign-out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Production/runtime preparation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Added startup validation for required Cognito configuration and the database</a:t>
            </a:r>
          </a:p>
          <a:p xmlns:a="http://schemas.openxmlformats.org/drawingml/2006/main">
            <a:r>
              <a:t>  connection setting, with messages that do not print secret values.</a:t>
            </a:r>
          </a:p>
          <a:p xmlns:a="http://schemas.openxmlformats.org/drawingml/2006/main">
            <a:r>
              <a:t>- Added production configuration that clears the local SQL connection and local</a:t>
            </a:r>
          </a:p>
          <a:p xmlns:a="http://schemas.openxmlformats.org/drawingml/2006/main">
            <a:r>
              <a:t>  logout URL so deployment must supply them explicitly.</a:t>
            </a:r>
          </a:p>
          <a:p xmlns:a="http://schemas.openxmlformats.org/drawingml/2006/main">
            <a:r>
              <a:t>- Processed trusted forwarded headers before HTTPS/authentication to preserve</a:t>
            </a:r>
          </a:p>
          <a:p xmlns:a="http://schemas.openxmlformats.org/drawingml/2006/main">
            <a:r>
              <a:t>  HTTPS callback URLs behind an AWS load balancer.</a:t>
            </a:r>
          </a:p>
          <a:p xmlns:a="http://schemas.openxmlformats.org/drawingml/2006/main">
            <a:r>
              <a:t>- Added `/health`, an HTTP 200 liveness endpoint that does not redirect to HTTPS</a:t>
            </a:r>
          </a:p>
          <a:p xmlns:a="http://schemas.openxmlformats.org/drawingml/2006/main">
            <a:r>
              <a:t>  or initialize authentication. It is not a database readiness check.</a:t>
            </a:r>
          </a:p>
          <a:p xmlns:a="http://schemas.openxmlformats.org/drawingml/2006/main">
            <a:r>
              <a:t>- Added shared, persistent ASP.NET Data Protection key storage for replicas.</a:t>
            </a:r>
          </a:p>
          <a:p xmlns:a="http://schemas.openxmlformats.org/drawingml/2006/main">
            <a:r>
              <a:t>- Disabled optional audit text-file copies in production; SQL audit records</a:t>
            </a:r>
          </a:p>
          <a:p xmlns:a="http://schemas.openxmlformats.org/drawingml/2006/main">
            <a:r>
              <a:t>  remain authoritative and runtime logs can go to CloudWatch.</a:t>
            </a:r>
          </a:p>
          <a:p xmlns:a="http://schemas.openxmlformats.org/drawingml/2006/main">
            <a:r>
              <a:t>- Disabled production startup migrations by default. Added `--migrate-only` for</a:t>
            </a:r>
          </a:p>
          <a:p xmlns:a="http://schemas.openxmlformats.org/drawingml/2006/main">
            <a:r>
              <a:t>  an explicit one-off schema deployment task. Development retains startup</a:t>
            </a:r>
          </a:p>
          <a:p xmlns:a="http://schemas.openxmlformats.org/drawingml/2006/main">
            <a:r>
              <a:t>  migrations unless its configuration disables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Container preparation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Fixed Docker restore ordering to include SMS.Web, SMS.Lib and SMS.Data project</a:t>
            </a:r>
          </a:p>
          <a:p xmlns:a="http://schemas.openxmlformats.org/drawingml/2006/main">
            <a:r>
              <a:t>  files before package restore.</a:t>
            </a:r>
          </a:p>
          <a:p xmlns:a="http://schemas.openxmlformats.org/drawingml/2006/main">
            <a:r>
              <a:t>- Set the container HTTP port to 8080 and retained non-root runtime execution.</a:t>
            </a:r>
          </a:p>
          <a:p xmlns:a="http://schemas.openxmlformats.org/drawingml/2006/main">
            <a:r>
              <a:t>- Added AWS's official RDS CA bundle to the Linux trust store so SQL connections</a:t>
            </a:r>
          </a:p>
          <a:p xmlns:a="http://schemas.openxmlformats.org/drawingml/2006/main">
            <a:r>
              <a:t>  can keep `Encrypt=True;TrustServerCertificate=False`.</a:t>
            </a:r>
          </a:p>
          <a:p xmlns:a="http://schemas.openxmlformats.org/drawingml/2006/main">
            <a:r>
              <a:t>- Excluded local build output, test artifacts, editor/account directories and</a:t>
            </a:r>
          </a:p>
          <a:p xmlns:a="http://schemas.openxmlformats.org/drawingml/2006/main">
            <a:r>
              <a:t>  credential/certificate files from the Docker build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Docker image itself has not been built here because Docker is unavailable.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Configuration and secret handling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Non-secret pool/client identifiers and the known login domain were added to</a:t>
            </a:r>
          </a:p>
          <a:p xmlns:a="http://schemas.openxmlformats.org/drawingml/2006/main">
            <a:r>
              <a:t>application configuration. Private values belong in Visual Studio user secrets</a:t>
            </a:r>
          </a:p>
          <a:p xmlns:a="http://schemas.openxmlformats.org/drawingml/2006/main">
            <a:r>
              <a:t>for development and AWS Secrets Manager for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Typical local settings (placeholders only):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"Cognito:ClientSecret": "PRIVATE_VALUE_STORED_LOCALLY",</a:t>
            </a:r>
          </a:p>
          <a:p xmlns:a="http://schemas.openxmlformats.org/drawingml/2006/main">
            <a:r>
              <a:t>  "Cognito:Domain": "https://eu-north-1lohgbf9su.auth.eu-north-1.amazoncognito.com",</a:t>
            </a:r>
          </a:p>
          <a:p xmlns:a="http://schemas.openxmlformats.org/drawingml/2006/main">
            <a:r>
              <a:t>  "Authentication:BootstrapAdminEmail": "YOUR_VERIFIED_ADMIN_EMAIL"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these through **SMS.Web → Manage User Secrets** in Visual Studio. The</a:t>
            </a:r>
          </a:p>
          <a:p xmlns:a="http://schemas.openxmlformats.org/drawingml/2006/main">
            <a:r>
              <a:t>project's UserSecretsId is `1d2cc5b5-8d38-4d84-b06e-2df6abe236ca`, with expected</a:t>
            </a:r>
          </a:p>
          <a:p xmlns:a="http://schemas.openxmlformats.org/drawingml/2006/main">
            <a:r>
              <a:t>file location: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%APPDATA%/Microsoft/UserSecrets/1d2cc5b5-8d38-4d84-b06e-2df6abe236ca/secrets.json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Initial disk checks did not find the new keys in that file. After the user</a:t>
            </a:r>
          </a:p>
          <a:p xmlns:a="http://schemas.openxmlformats.org/drawingml/2006/main">
            <a:r>
              <a:t>confirmed/saved the entries, a later check confirmed the client secret, Cognito</a:t>
            </a:r>
          </a:p>
          <a:p xmlns:a="http://schemas.openxmlformats.org/drawingml/2006/main">
            <a:r>
              <a:t>domain and bootstrap setting were present. Presence was checked without printing</a:t>
            </a:r>
          </a:p>
          <a:p xmlns:a="http://schemas.openxmlformats.org/drawingml/2006/main">
            <a:r>
              <a:t>their values; it does not prove that the secret matches the current AWS client.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client secret was pasted into chat during setup. Its value is intentionally</a:t>
            </a:r>
          </a:p>
          <a:p xmlns:a="http://schemas.openxmlformats.org/drawingml/2006/main">
            <a:r>
              <a:t>excluded from this record. Replacing that secret in Cognito and privately updating</a:t>
            </a:r>
          </a:p>
          <a:p xmlns:a="http://schemas.openxmlformats.org/drawingml/2006/main">
            <a:r>
              <a:t>the local/deployed configuration was advised. Completion of replacement has not</a:t>
            </a:r>
          </a:p>
          <a:p xmlns:a="http://schemas.openxmlformats.org/drawingml/2006/main">
            <a:r>
              <a:t>been confirmed. Do not put actual passwords, secrets, tokens or authentication</a:t>
            </a:r>
          </a:p>
          <a:p xmlns:a="http://schemas.openxmlformats.org/drawingml/2006/main">
            <a:r>
              <a:t>codes into Git, documentation or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Login/logout troubleshooting 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Reported issue | Finding and action | Confirmed position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Cognito "Something went wrong" | User supplied `error=redirect_mismatch`. Checked the local request: HTTPS app generated `https://localhost:7246/signin-oidc`. Guided exact Allowed callback URL and HTTPS launch-profile configuration. | A later callback error showed the flow had progressed past that mismatch. |</a:t>
            </a:r>
          </a:p>
          <a:p xmlns:a="http://schemas.openxmlformats.org/drawingml/2006/main">
            <a:r>
              <a:t>| `invalid_request` / `invalid_scope` | App requests `openid email profile`; earlier console output listed `email openid phone`. Guided enabling profile and saving matching scopes. | A later token-verification error showed the flow progressed further. |</a:t>
            </a:r>
          </a:p>
          <a:p xmlns:a="http://schemas.openxmlformats.org/drawingml/2006/main">
            <a:r>
              <a:t>| "A verified staff email address is required" | App's post-token-validation guard rejected an absent/false email verification claim. Guided checking the Cognito user's Email verified status. | Final verified-email correction and successful app session were not confirmed. |</a:t>
            </a:r>
          </a:p>
          <a:p xmlns:a="http://schemas.openxmlformats.org/drawingml/2006/main">
            <a:r>
              <a:t>| Logout "Invalid request" | Effective local LogoutUri was `https://localhost:7246/`. Guided adding that exact value, including trailing slash, to Allowed sign-out URLs. | Final successful logout was not confirmed.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 login from the running app's **Staff portal**, using the HTTPS profile at</a:t>
            </a:r>
          </a:p>
          <a:p xmlns:a="http://schemas.openxmlformats.org/drawingml/2006/main">
            <a:r>
              <a:t>`https://localhost:7246`. Reusing a previous error URL does not start a new login.</a:t>
            </a:r>
          </a:p>
          <a:p xmlns:a="http://schemas.openxmlformats.org/drawingml/2006/main">
            <a:r>
              <a:t>The console's View login page is useful for viewing Cognito but does not replace</a:t>
            </a:r>
          </a:p>
          <a:p xmlns:a="http://schemas.openxmlformats.org/drawingml/2006/main">
            <a:r>
              <a:t>the app's state/correlation handling for a complete login.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https://docs.aws.amazon.com/cognito/latest/developerguide/authorization-endpoint.html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Login/logout troubleshooting 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Reported issue | Finding and action | Confirmed position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Cognito "Something went wrong" | User supplied `error=redirect_mismatch`. Checked the local request: HTTPS app generated `https://localhost:7246/signin-oidc`. Guided exact Allowed callback URL and HTTPS launch-profile configuration. | A later callback error showed the flow had progressed past that mismatch. |</a:t>
            </a:r>
          </a:p>
          <a:p xmlns:a="http://schemas.openxmlformats.org/drawingml/2006/main">
            <a:r>
              <a:t>| `invalid_request` / `invalid_scope` | App requests `openid email profile`; earlier console output listed `email openid phone`. Guided enabling profile and saving matching scopes. | A later token-verification error showed the flow progressed further. |</a:t>
            </a:r>
          </a:p>
          <a:p xmlns:a="http://schemas.openxmlformats.org/drawingml/2006/main">
            <a:r>
              <a:t>| "A verified staff email address is required" | App's post-token-validation guard rejected an absent/false email verification claim. Guided checking the Cognito user's Email verified status. | Final verified-email correction and successful app session were not confirmed. |</a:t>
            </a:r>
          </a:p>
          <a:p xmlns:a="http://schemas.openxmlformats.org/drawingml/2006/main">
            <a:r>
              <a:t>| Logout "Invalid request" | Effective local LogoutUri was `https://localhost:7246/`. Guided adding that exact value, including trailing slash, to Allowed sign-out URLs. | Final successful logout was not confirmed.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 login from the running app's **Staff portal**, using the HTTPS profile at</a:t>
            </a:r>
          </a:p>
          <a:p xmlns:a="http://schemas.openxmlformats.org/drawingml/2006/main">
            <a:r>
              <a:t>`https://localhost:7246`. Reusing a previous error URL does not start a new login.</a:t>
            </a:r>
          </a:p>
          <a:p xmlns:a="http://schemas.openxmlformats.org/drawingml/2006/main">
            <a:r>
              <a:t>The console's View login page is useful for viewing Cognito but does not replace</a:t>
            </a:r>
          </a:p>
          <a:p xmlns:a="http://schemas.openxmlformats.org/drawingml/2006/main">
            <a:r>
              <a:t>the app's state/correlation handling for a complete login.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https://docs.aws.amazon.com/cognito/latest/developerguide/logout-endpoint.html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Testing and security work done alongside migration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initial local test/UAT pass preceded the migration implementation. It found</a:t>
            </a:r>
          </a:p>
          <a:p xmlns:a="http://schemas.openxmlformats.org/drawingml/2006/main">
            <a:r>
              <a:t>anonymous management-list access, a service-level reversed-payment correction</a:t>
            </a:r>
          </a:p>
          <a:p xmlns:a="http://schemas.openxmlformats.org/drawingml/2006/main">
            <a:r>
              <a:t>gap, logout concerns, and vulnerable cryptography package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user then authorized corrections: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Required authentication for protected areas and registered the workspace</a:t>
            </a:r>
          </a:p>
          <a:p xmlns:a="http://schemas.openxmlformats.org/drawingml/2006/main">
            <a:r>
              <a:t>  access filter globally. Anonymous management pages now challenge sign-in.</a:t>
            </a:r>
          </a:p>
          <a:p xmlns:a="http://schemas.openxmlformats.org/drawingml/2006/main">
            <a:r>
              <a:t>- Rejected correction of reversed originals in PaymentService, and serialized</a:t>
            </a:r>
          </a:p>
          <a:p xmlns:a="http://schemas.openxmlformats.org/drawingml/2006/main">
            <a:r>
              <a:t>  recording/correction/reversal per ledger using SQL application locks and</a:t>
            </a:r>
          </a:p>
          <a:p xmlns:a="http://schemas.openxmlformats.org/drawingml/2006/main">
            <a:r>
              <a:t>  transactions. Concurrent reversal attempts are checked.</a:t>
            </a:r>
          </a:p>
          <a:p xmlns:a="http://schemas.openxmlformats.org/drawingml/2006/main">
            <a:r>
              <a:t>- Hardened logout as described above.</a:t>
            </a:r>
          </a:p>
          <a:p xmlns:a="http://schemas.openxmlformats.org/drawingml/2006/main">
            <a:r>
              <a:t>- Updated System.Security.Cryptography.Xml and Pkcs to 10.0.13. The dependency</a:t>
            </a:r>
          </a:p>
          <a:p xmlns:a="http://schemas.openxmlformats.org/drawingml/2006/main">
            <a:r>
              <a:t>  audit run at that stage reported no known vulnerable packages in the three</a:t>
            </a:r>
          </a:p>
          <a:p xmlns:a="http://schemas.openxmlformats.org/drawingml/2006/main">
            <a:r>
              <a:t>  application projects; this was not a complete penetration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payment/access fixes were related release-readiness work, not prerequisites</a:t>
            </a:r>
          </a:p>
          <a:p xmlns:a="http://schemas.openxmlformats.org/drawingml/2006/main">
            <a:r>
              <a:t>specific to Cognito. Reversed payments remain in accounting history; to reinstate</a:t>
            </a:r>
          </a:p>
          <a:p xmlns:a="http://schemas.openxmlformats.org/drawingml/2006/main">
            <a:r>
              <a:t>a mistakenly reversed payment, record a new payment instead of editing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Recorded final local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Check | Result / limit |</a:t>
            </a:r>
          </a:p>
          <a:p xmlns:a="http://schemas.openxmlformats.org/drawingml/2006/main">
            <a:r>
              <a:t>| --- | --- |</a:t>
            </a:r>
          </a:p>
          <a:p xmlns:a="http://schemas.openxmlformats.org/drawingml/2006/main">
            <a:r>
              <a:t>| Solution build | Passed: 0 errors, 32 warnings; compiler warnings remain |</a:t>
            </a:r>
          </a:p>
          <a:p xmlns:a="http://schemas.openxmlformats.org/drawingml/2006/main">
            <a:r>
              <a:t>| Identity, workspace and assignment checks | 185 passed |</a:t>
            </a:r>
          </a:p>
          <a:p xmlns:a="http://schemas.openxmlformats.org/drawingml/2006/main">
            <a:r>
              <a:t>| SQL finance integration | 37 passed in a separate synthetic database |</a:t>
            </a:r>
          </a:p>
          <a:p xmlns:a="http://schemas.openxmlformats.org/drawingml/2006/main">
            <a:r>
              <a:t>| Anonymous protected-route checks | 21 passed; redirects target configured Cognito |</a:t>
            </a:r>
          </a:p>
          <a:p xmlns:a="http://schemas.openxmlformats.org/drawingml/2006/main">
            <a:r>
              <a:t>| AWS runtime checks | 14 passed: public/health, logout guards, correct client/domain, code flow, PKCE, state/nonce, scopes and HTTPS callback |</a:t>
            </a:r>
          </a:p>
          <a:p xmlns:a="http://schemas.openxmlformats.org/drawingml/2006/main">
            <a:r>
              <a:t>| Finance chart and submit-lock JavaScript | Both suites passed |</a:t>
            </a:r>
          </a:p>
          <a:p xmlns:a="http://schemas.openxmlformats.org/drawingml/2006/main">
            <a:r>
              <a:t>| Template YAML, references and dependency graph | All three templates passed |</a:t>
            </a:r>
          </a:p>
          <a:p xmlns:a="http://schemas.openxmlformats.org/drawingml/2006/main">
            <a:r>
              <a:t>| CloudFormation schema checks | cfn-lint 1.39.0, eu-north-1: exit code 0 |</a:t>
            </a:r>
          </a:p>
          <a:p xmlns:a="http://schemas.openxmlformats.org/drawingml/2006/main">
            <a:r>
              <a:t>| Docker build / cloud deployment | Not executed |</a:t>
            </a:r>
          </a:p>
          <a:p xmlns:a="http://schemas.openxmlformats.org/drawingml/2006/main">
            <a:r>
              <a:t>| Complete authenticated staff UAT | Not completed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automated redirect smoke test used a clearly identified placeholder client</a:t>
            </a:r>
          </a:p>
          <a:p xmlns:a="http://schemas.openxmlformats.org/drawingml/2006/main">
            <a:r>
              <a:t>secret and did **not** exchange tokens or sign in a user. This is why passing</a:t>
            </a:r>
          </a:p>
          <a:p xmlns:a="http://schemas.openxmlformats.org/drawingml/2006/main">
            <a:r>
              <a:t>redirect tests did not establish that actual Cognito scopes, email verification,</a:t>
            </a:r>
          </a:p>
          <a:p xmlns:a="http://schemas.openxmlformats.org/drawingml/2006/main">
            <a:r>
              <a:t>the private secret or AWS console URL settings were correct.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tests used `SMS_UAT_20261015` and `SMS_FINANCE_UAT_20261015`, not a deployed</a:t>
            </a:r>
          </a:p>
          <a:p xmlns:a="http://schemas.openxmlformats.org/drawingml/2006/main">
            <a:r>
              <a:t>RDS database. Temporary test servers were stopped after testing. Synthetic test</a:t>
            </a:r>
          </a:p>
          <a:p xmlns:a="http://schemas.openxmlformats.org/drawingml/2006/main">
            <a:r>
              <a:t>data and local evidence were retained. Existing unrelated project-file edits</a:t>
            </a:r>
          </a:p>
          <a:p xmlns:a="http://schemas.openxmlformats.org/drawingml/2006/main">
            <a:r>
              <a:t>were preserved; no commits or deployment were performed as part of this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files include `tests/aws-release-build.log`,</a:t>
            </a:r>
          </a:p>
          <a:p xmlns:a="http://schemas.openxmlformats.org/drawingml/2006/main">
            <a:r>
              <a:t>`tests/aws-complete-workspace.log`, `tests/aws-complete-finance.log`,</a:t>
            </a:r>
          </a:p>
          <a:p xmlns:a="http://schemas.openxmlformats.org/drawingml/2006/main">
            <a:r>
              <a:t>`tests/aws-complete-anonymous.log`, `tests/aws-runtime-results.log`,</a:t>
            </a:r>
          </a:p>
          <a:p xmlns:a="http://schemas.openxmlformats.org/drawingml/2006/main">
            <a:r>
              <a:t>`tests/aws-template-validation.log` and `tests/aws-cfn-lint-results.log`.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Application changes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Authentication and identity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Replaced Microsoft.Identity.Web/Microsoft.Identity.Web.UI authentication with</a:t>
            </a:r>
          </a:p>
          <a:p xmlns:a="http://schemas.openxmlformats.org/drawingml/2006/main">
            <a:r>
              <a:t>  standard ASP.NET Core cookie and OpenID Connect authentication for Cognito.</a:t>
            </a:r>
          </a:p>
          <a:p xmlns:a="http://schemas.openxmlformats.org/drawingml/2006/main">
            <a:r>
              <a:t>- Configured authorization-code flow with PKCE, issuer/audience/signature</a:t>
            </a:r>
          </a:p>
          <a:p xmlns:a="http://schemas.openxmlformats.org/drawingml/2006/main">
            <a:r>
              <a:t>  validation through the OIDC middleware, and scopes `openid email profile`.</a:t>
            </a:r>
          </a:p>
          <a:p xmlns:a="http://schemas.openxmlformats.org/drawingml/2006/main">
            <a:r>
              <a:t>- Kept the public Staff portal route; it now redirects to Cognito.</a:t>
            </a:r>
          </a:p>
          <a:p xmlns:a="http://schemas.openxmlformats.org/drawingml/2006/main">
            <a:r>
              <a:t>- Required a nonempty email claim with `email_verified=true` after ID-token</a:t>
            </a:r>
          </a:p>
          <a:p xmlns:a="http://schemas.openxmlformats.org/drawingml/2006/main">
            <a:r>
              <a:t>  validation. Unverified users cannot complete app sign-in.</a:t>
            </a:r>
          </a:p>
          <a:p xmlns:a="http://schemas.openxmlformats.org/drawingml/2006/main">
            <a:r>
              <a:t>- Used Cognito's `sub` claim as the identity subject and renamed the app interface</a:t>
            </a:r>
          </a:p>
          <a:p xmlns:a="http://schemas.openxmlformats.org/drawingml/2006/main">
            <a:r>
              <a:t>  property from AzureId to IdentitySubject.</a:t>
            </a:r>
          </a:p>
          <a:p xmlns:a="http://schemas.openxmlformats.org/drawingml/2006/main">
            <a:r>
              <a:t>- Matched existing SQL user records by verified email, case-insensitively, to</a:t>
            </a:r>
          </a:p>
          <a:p xmlns:a="http://schemas.openxmlformats.org/drawingml/2006/main">
            <a:r>
              <a:t>  preserve their active status, roles and groups. Email should be kept consistent</a:t>
            </a:r>
          </a:p>
          <a:p xmlns:a="http://schemas.openxmlformats.org/drawingml/2006/main">
            <a:r>
              <a:t>  when creating Cognito accounts for migrated staff.</a:t>
            </a:r>
          </a:p>
          <a:p xmlns:a="http://schemas.openxmlformats.org/drawingml/2006/main">
            <a:r>
              <a:t>- Used the verified email as a display-name fallback where no name claim exists.</a:t>
            </a:r>
          </a:p>
          <a:p xmlns:a="http://schemas.openxmlformats.org/drawingml/2006/main">
            <a:r>
              <a:t>- Kept authentication cookies secure and HTTP-only. Disabled sliding expiration,</a:t>
            </a:r>
          </a:p>
          <a:p xmlns:a="http://schemas.openxmlformats.org/drawingml/2006/main">
            <a:r>
              <a:t>  used the validated ID token's lifetime, and did not save tokens in the cookie.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 passwords, sessions and Microsoft app-registration settings were not</a:t>
            </a:r>
          </a:p>
          <a:p xmlns:a="http://schemas.openxmlformats.org/drawingml/2006/main">
            <a:r>
              <a:t>transferred into Cognito. Existing staff need Cognito accounts/credentials.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Administrator and rights behavior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earlier unrestricted "first login becomes administrator" behavior was</a:t>
            </a:r>
          </a:p>
          <a:p xmlns:a="http://schemas.openxmlformats.org/drawingml/2006/main">
            <a:r>
              <a:t>replaced by a restricted bootstrap: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The SQL application's User table must be empty.</a:t>
            </a:r>
          </a:p>
          <a:p xmlns:a="http://schemas.openxmlformats.org/drawingml/2006/main">
            <a:r>
              <a:t>2. The login must have a verified email.</a:t>
            </a:r>
          </a:p>
          <a:p xmlns:a="http://schemas.openxmlformats.org/drawingml/2006/main">
            <a:r>
              <a:t>3. That email must match `Authentication:BootstrapAdminEmail`.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then is the new SQL user active with the ADMIN role. The ADMIN role receives</a:t>
            </a:r>
          </a:p>
          <a:p xmlns:a="http://schemas.openxmlformats.org/drawingml/2006/main">
            <a:r>
              <a:t>all application rights through the existing rights service. Other newly</a:t>
            </a:r>
          </a:p>
          <a:p xmlns:a="http://schemas.openxmlformats.org/drawingml/2006/main">
            <a:r>
              <a:t>provisioned users start inactive with no role; an administrator must activate</a:t>
            </a:r>
          </a:p>
          <a:p xmlns:a="http://schemas.openxmlformats.org/drawingml/2006/main">
            <a:r>
              <a:t>them and assign the appropriate role/group. Existing users retain their SQL</a:t>
            </a:r>
          </a:p>
          <a:p xmlns:a="http://schemas.openxmlformats.org/drawingml/2006/main">
            <a:r>
              <a:t>roles; the bootstrap setting does not automatically promote an existing user.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Being a Cognito user, AWS account owner, or AWS console administrator does not by</a:t>
            </a:r>
          </a:p>
          <a:p xmlns:a="http://schemas.openxmlformats.org/drawingml/2006/main">
            <a:r>
              <a:t>itself grant school-application administration rights.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Logout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Kept logout as an app POST protected by antiforgery validation.</a:t>
            </a:r>
          </a:p>
          <a:p xmlns:a="http://schemas.openxmlformats.org/drawingml/2006/main">
            <a:r>
              <a:t>- Made app GET logout return HTTP 405.</a:t>
            </a:r>
          </a:p>
          <a:p xmlns:a="http://schemas.openxmlformats.org/drawingml/2006/main">
            <a:r>
              <a:t>- Cleared the local application cookie before redirecting to Cognito's `/logout`.</a:t>
            </a:r>
          </a:p>
          <a:p xmlns:a="http://schemas.openxmlformats.org/drawingml/2006/main">
            <a:r>
              <a:t>- Sent `client_id` and the configured `logout_uri` to Cognito.</a:t>
            </a:r>
          </a:p>
          <a:p xmlns:a="http://schemas.openxmlformats.org/drawingml/2006/main">
            <a:r>
              <a:t>- Restricted app return URLs to local paths; the Cognito exit uses its fixed,</a:t>
            </a:r>
          </a:p>
          <a:p xmlns:a="http://schemas.openxmlformats.org/drawingml/2006/main">
            <a:r>
              <a:t>  configured allowed sign-out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Production/runtime preparation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Added startup validation for required Cognito configuration and the database</a:t>
            </a:r>
          </a:p>
          <a:p xmlns:a="http://schemas.openxmlformats.org/drawingml/2006/main">
            <a:r>
              <a:t>  connection setting, with messages that do not print secret values.</a:t>
            </a:r>
          </a:p>
          <a:p xmlns:a="http://schemas.openxmlformats.org/drawingml/2006/main">
            <a:r>
              <a:t>- Added production configuration that clears the local SQL connection and local</a:t>
            </a:r>
          </a:p>
          <a:p xmlns:a="http://schemas.openxmlformats.org/drawingml/2006/main">
            <a:r>
              <a:t>  logout URL so deployment must supply them explicitly.</a:t>
            </a:r>
          </a:p>
          <a:p xmlns:a="http://schemas.openxmlformats.org/drawingml/2006/main">
            <a:r>
              <a:t>- Processed trusted forwarded headers before HTTPS/authentication to preserve</a:t>
            </a:r>
          </a:p>
          <a:p xmlns:a="http://schemas.openxmlformats.org/drawingml/2006/main">
            <a:r>
              <a:t>  HTTPS callback URLs behind an AWS load balancer.</a:t>
            </a:r>
          </a:p>
          <a:p xmlns:a="http://schemas.openxmlformats.org/drawingml/2006/main">
            <a:r>
              <a:t>- Added `/health`, an HTTP 200 liveness endpoint that does not redirect to HTTPS</a:t>
            </a:r>
          </a:p>
          <a:p xmlns:a="http://schemas.openxmlformats.org/drawingml/2006/main">
            <a:r>
              <a:t>  or initialize authentication. It is not a database readiness check.</a:t>
            </a:r>
          </a:p>
          <a:p xmlns:a="http://schemas.openxmlformats.org/drawingml/2006/main">
            <a:r>
              <a:t>- Added shared, persistent ASP.NET Data Protection key storage for replicas.</a:t>
            </a:r>
          </a:p>
          <a:p xmlns:a="http://schemas.openxmlformats.org/drawingml/2006/main">
            <a:r>
              <a:t>- Disabled optional audit text-file copies in production; SQL audit records</a:t>
            </a:r>
          </a:p>
          <a:p xmlns:a="http://schemas.openxmlformats.org/drawingml/2006/main">
            <a:r>
              <a:t>  remain authoritative and runtime logs can go to CloudWatch.</a:t>
            </a:r>
          </a:p>
          <a:p xmlns:a="http://schemas.openxmlformats.org/drawingml/2006/main">
            <a:r>
              <a:t>- Disabled production startup migrations by default. Added `--migrate-only` for</a:t>
            </a:r>
          </a:p>
          <a:p xmlns:a="http://schemas.openxmlformats.org/drawingml/2006/main">
            <a:r>
              <a:t>  an explicit one-off schema deployment task. Development retains startup</a:t>
            </a:r>
          </a:p>
          <a:p xmlns:a="http://schemas.openxmlformats.org/drawingml/2006/main">
            <a:r>
              <a:t>  migrations unless its configuration disables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Container preparation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Fixed Docker restore ordering to include SMS.Web, SMS.Lib and SMS.Data project</a:t>
            </a:r>
          </a:p>
          <a:p xmlns:a="http://schemas.openxmlformats.org/drawingml/2006/main">
            <a:r>
              <a:t>  files before package restore.</a:t>
            </a:r>
          </a:p>
          <a:p xmlns:a="http://schemas.openxmlformats.org/drawingml/2006/main">
            <a:r>
              <a:t>- Set the container HTTP port to 8080 and retained non-root runtime execution.</a:t>
            </a:r>
          </a:p>
          <a:p xmlns:a="http://schemas.openxmlformats.org/drawingml/2006/main">
            <a:r>
              <a:t>- Added AWS's official RDS CA bundle to the Linux trust store so SQL connections</a:t>
            </a:r>
          </a:p>
          <a:p xmlns:a="http://schemas.openxmlformats.org/drawingml/2006/main">
            <a:r>
              <a:t>  can keep `Encrypt=True;TrustServerCertificate=False`.</a:t>
            </a:r>
          </a:p>
          <a:p xmlns:a="http://schemas.openxmlformats.org/drawingml/2006/main">
            <a:r>
              <a:t>- Excluded local build output, test artifacts, editor/account directories and</a:t>
            </a:r>
          </a:p>
          <a:p xmlns:a="http://schemas.openxmlformats.org/drawingml/2006/main">
            <a:r>
              <a:t>  credential/certificate files from the Docker build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Docker image itself has not been built here because Docker is unavailable.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Prepared AWS architecture and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Component | Prepared AWS target | Status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Staff sign-in | Cognito | Pool/client/user created by user; final login/logout acceptance pending |</a:t>
            </a:r>
          </a:p>
          <a:p xmlns:a="http://schemas.openxmlformats.org/drawingml/2006/main">
            <a:r>
              <a:t>| App image | ECR | Build/push script prepared; image not built/pushed here |</a:t>
            </a:r>
          </a:p>
          <a:p xmlns:a="http://schemas.openxmlformats.org/drawingml/2006/main">
            <a:r>
              <a:t>| App hosting | ECS Fargate | CloudFormation template prepared; not deployed |</a:t>
            </a:r>
          </a:p>
          <a:p xmlns:a="http://schemas.openxmlformats.org/drawingml/2006/main">
            <a:r>
              <a:t>| HTTPS entry | Application Load Balancer + ACM | Template prepared; hostname/certificate/network still required |</a:t>
            </a:r>
          </a:p>
          <a:p xmlns:a="http://schemas.openxmlformats.org/drawingml/2006/main">
            <a:r>
              <a:t>| Database | Private RDS SQL Server Express for test scale | Template prepared; not provisioned/migrated |</a:t>
            </a:r>
          </a:p>
          <a:p xmlns:a="http://schemas.openxmlformats.org/drawingml/2006/main">
            <a:r>
              <a:t>| Runtime secrets | Secrets Manager | Injection prepared; cloud secrets still need creation |</a:t>
            </a:r>
          </a:p>
          <a:p xmlns:a="http://schemas.openxmlformats.org/drawingml/2006/main">
            <a:r>
              <a:t>| Authentication key persistence | Encrypted EFS | Template prepared; not deployed |</a:t>
            </a:r>
          </a:p>
          <a:p xmlns:a="http://schemas.openxmlformats.org/drawingml/2006/main">
            <a:r>
              <a:t>| Runtime logging | CloudWatch Logs | Template prepared; not deployed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source and handover files: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File | Purpose |</a:t>
            </a:r>
          </a:p>
          <a:p xmlns:a="http://schemas.openxmlformats.org/drawingml/2006/main">
            <a:r>
              <a:t>| --- | --- |</a:t>
            </a:r>
          </a:p>
          <a:p xmlns:a="http://schemas.openxmlformats.org/drawingml/2006/main">
            <a:r>
              <a:t>| `SMS.Web/Program.cs` | Cognito setup, cookies, proxy handling, migrations and health |</a:t>
            </a:r>
          </a:p>
          <a:p xmlns:a="http://schemas.openxmlformats.org/drawingml/2006/main">
            <a:r>
              <a:t>| `SMS.Web/Services/CognitoIdentity.cs` | Verified-email guard |</a:t>
            </a:r>
          </a:p>
          <a:p xmlns:a="http://schemas.openxmlformats.org/drawingml/2006/main">
            <a:r>
              <a:t>| `SMS.Web/Services/CognitoSettings.cs` | Configuration validation |</a:t>
            </a:r>
          </a:p>
          <a:p xmlns:a="http://schemas.openxmlformats.org/drawingml/2006/main">
            <a:r>
              <a:t>| `SMS.Web/Services/CurrentUserService.cs` | Claims, matching and bootstrap behavior |</a:t>
            </a:r>
          </a:p>
          <a:p xmlns:a="http://schemas.openxmlformats.org/drawingml/2006/main">
            <a:r>
              <a:t>| `SMS.Web/Areas/Identity/Pages/Account/StaffLogin.cshtml.cs` | App login entry |</a:t>
            </a:r>
          </a:p>
          <a:p xmlns:a="http://schemas.openxmlformats.org/drawingml/2006/main">
            <a:r>
              <a:t>| `SMS.Web/Areas/Identity/Pages/Account/Logout.cshtml.cs` | Protected app logout |</a:t>
            </a:r>
          </a:p>
          <a:p xmlns:a="http://schemas.openxmlformats.org/drawingml/2006/main">
            <a:r>
              <a:t>| `SMS.Web/appsettings.Production.json` | Production defaults requiring external configuration |</a:t>
            </a:r>
          </a:p>
          <a:p xmlns:a="http://schemas.openxmlformats.org/drawingml/2006/main">
            <a:r>
              <a:t>| `SMS.Web/Dockerfile` and `.dockerignore` | Container build and exclusions |</a:t>
            </a:r>
          </a:p>
          <a:p xmlns:a="http://schemas.openxmlformats.org/drawingml/2006/main">
            <a:r>
              <a:t>| `deploy/aws/application.yaml` | ECS, ALB, EFS, IAM and logs; uses existing Cognito/RDS/network |</a:t>
            </a:r>
          </a:p>
          <a:p xmlns:a="http://schemas.openxmlformats.org/drawingml/2006/main">
            <a:r>
              <a:t>| `deploy/aws/database.yaml` | Private RDS instance, generated master secret and security group |</a:t>
            </a:r>
          </a:p>
          <a:p xmlns:a="http://schemas.openxmlformats.org/drawingml/2006/main">
            <a:r>
              <a:t>| `deploy/aws/cognito.yaml` | Optional **new** pool template; do not redeploy to replace the existing pool accidentally |</a:t>
            </a:r>
          </a:p>
          <a:p xmlns:a="http://schemas.openxmlformats.org/drawingml/2006/main">
            <a:r>
              <a:t>| `deploy/aws/environment.example` | Deployment configuration names, no real secret values |</a:t>
            </a:r>
          </a:p>
          <a:p xmlns:a="http://schemas.openxmlformats.org/drawingml/2006/main">
            <a:r>
              <a:t>| `deploy/aws/push-image.ps1` | Build/push to an existing ECR repository |</a:t>
            </a:r>
          </a:p>
          <a:p xmlns:a="http://schemas.openxmlformats.org/drawingml/2006/main">
            <a:r>
              <a:t>| `deploy/aws/README.md` | Deployment order, prerequisites and rollback notes |</a:t>
            </a:r>
          </a:p>
          <a:p xmlns:a="http://schemas.openxmlformats.org/drawingml/2006/main">
            <a:r>
              <a:t>| `docs/aws-migration.md` | Configuration/setup reference |</a:t>
            </a:r>
          </a:p>
          <a:p xmlns:a="http://schemas.openxmlformats.org/drawingml/2006/main">
            <a:r>
              <a:t>| `docs/uat-2026-10-15.md` | Original UAT findings and remediation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application template expects an existing VPC, public/private subnets, outbound</a:t>
            </a:r>
          </a:p>
          <a:p xmlns:a="http://schemas.openxmlformats.org/drawingml/2006/main">
            <a:r>
              <a:t>connectivity, a hostname and an ACM certificate. It does not create that entire</a:t>
            </a:r>
          </a:p>
          <a:p xmlns:a="http://schemas.openxmlformats.org/drawingml/2006/main">
            <a:r>
              <a:t>network or register DNS. Its initial ECS DesiredCount is zero so migrations can</a:t>
            </a:r>
          </a:p>
          <a:p xmlns:a="http://schemas.openxmlformats.org/drawingml/2006/main">
            <a:r>
              <a:t>be reviewed/run before enabling the service. The RDS template is a small,</a:t>
            </a:r>
          </a:p>
          <a:p xmlns:a="http://schemas.openxmlformats.org/drawingml/2006/main">
            <a:r>
              <a:t>single-AZ test design, not a production high-availability guarantee.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Testing and security work done alongside migration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initial local test/UAT pass preceded the migration implementation. It found</a:t>
            </a:r>
          </a:p>
          <a:p xmlns:a="http://schemas.openxmlformats.org/drawingml/2006/main">
            <a:r>
              <a:t>anonymous management-list access, a service-level reversed-payment correction</a:t>
            </a:r>
          </a:p>
          <a:p xmlns:a="http://schemas.openxmlformats.org/drawingml/2006/main">
            <a:r>
              <a:t>gap, logout concerns, and vulnerable cryptography package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user then authorized corrections: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Required authentication for protected areas and registered the workspace</a:t>
            </a:r>
          </a:p>
          <a:p xmlns:a="http://schemas.openxmlformats.org/drawingml/2006/main">
            <a:r>
              <a:t>  access filter globally. Anonymous management pages now challenge sign-in.</a:t>
            </a:r>
          </a:p>
          <a:p xmlns:a="http://schemas.openxmlformats.org/drawingml/2006/main">
            <a:r>
              <a:t>- Rejected correction of reversed originals in PaymentService, and serialized</a:t>
            </a:r>
          </a:p>
          <a:p xmlns:a="http://schemas.openxmlformats.org/drawingml/2006/main">
            <a:r>
              <a:t>  recording/correction/reversal per ledger using SQL application locks and</a:t>
            </a:r>
          </a:p>
          <a:p xmlns:a="http://schemas.openxmlformats.org/drawingml/2006/main">
            <a:r>
              <a:t>  transactions. Concurrent reversal attempts are checked.</a:t>
            </a:r>
          </a:p>
          <a:p xmlns:a="http://schemas.openxmlformats.org/drawingml/2006/main">
            <a:r>
              <a:t>- Hardened logout as described above.</a:t>
            </a:r>
          </a:p>
          <a:p xmlns:a="http://schemas.openxmlformats.org/drawingml/2006/main">
            <a:r>
              <a:t>- Updated System.Security.Cryptography.Xml and Pkcs to 10.0.13. The dependency</a:t>
            </a:r>
          </a:p>
          <a:p xmlns:a="http://schemas.openxmlformats.org/drawingml/2006/main">
            <a:r>
              <a:t>  audit run at that stage reported no known vulnerable packages in the three</a:t>
            </a:r>
          </a:p>
          <a:p xmlns:a="http://schemas.openxmlformats.org/drawingml/2006/main">
            <a:r>
              <a:t>  application projects; this was not a complete penetration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payment/access fixes were related release-readiness work, not prerequisites</a:t>
            </a:r>
          </a:p>
          <a:p xmlns:a="http://schemas.openxmlformats.org/drawingml/2006/main">
            <a:r>
              <a:t>specific to Cognito. Reversed payments remain in accounting history; to reinstate</a:t>
            </a:r>
          </a:p>
          <a:p xmlns:a="http://schemas.openxmlformats.org/drawingml/2006/main">
            <a:r>
              <a:t>a mistakenly reversed payment, record a new payment instead of editing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Recorded final local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Check | Result / limit |</a:t>
            </a:r>
          </a:p>
          <a:p xmlns:a="http://schemas.openxmlformats.org/drawingml/2006/main">
            <a:r>
              <a:t>| --- | --- |</a:t>
            </a:r>
          </a:p>
          <a:p xmlns:a="http://schemas.openxmlformats.org/drawingml/2006/main">
            <a:r>
              <a:t>| Solution build | Passed: 0 errors, 32 warnings; compiler warnings remain |</a:t>
            </a:r>
          </a:p>
          <a:p xmlns:a="http://schemas.openxmlformats.org/drawingml/2006/main">
            <a:r>
              <a:t>| Identity, workspace and assignment checks | 185 passed |</a:t>
            </a:r>
          </a:p>
          <a:p xmlns:a="http://schemas.openxmlformats.org/drawingml/2006/main">
            <a:r>
              <a:t>| SQL finance integration | 37 passed in a separate synthetic database |</a:t>
            </a:r>
          </a:p>
          <a:p xmlns:a="http://schemas.openxmlformats.org/drawingml/2006/main">
            <a:r>
              <a:t>| Anonymous protected-route checks | 21 passed; redirects target configured Cognito |</a:t>
            </a:r>
          </a:p>
          <a:p xmlns:a="http://schemas.openxmlformats.org/drawingml/2006/main">
            <a:r>
              <a:t>| AWS runtime checks | 14 passed: public/health, logout guards, correct client/domain, code flow, PKCE, state/nonce, scopes and HTTPS callback |</a:t>
            </a:r>
          </a:p>
          <a:p xmlns:a="http://schemas.openxmlformats.org/drawingml/2006/main">
            <a:r>
              <a:t>| Finance chart and submit-lock JavaScript | Both suites passed |</a:t>
            </a:r>
          </a:p>
          <a:p xmlns:a="http://schemas.openxmlformats.org/drawingml/2006/main">
            <a:r>
              <a:t>| Template YAML, references and dependency graph | All three templates passed |</a:t>
            </a:r>
          </a:p>
          <a:p xmlns:a="http://schemas.openxmlformats.org/drawingml/2006/main">
            <a:r>
              <a:t>| CloudFormation schema checks | cfn-lint 1.39.0, eu-north-1: exit code 0 |</a:t>
            </a:r>
          </a:p>
          <a:p xmlns:a="http://schemas.openxmlformats.org/drawingml/2006/main">
            <a:r>
              <a:t>| Docker build / cloud deployment | Not executed |</a:t>
            </a:r>
          </a:p>
          <a:p xmlns:a="http://schemas.openxmlformats.org/drawingml/2006/main">
            <a:r>
              <a:t>| Complete authenticated staff UAT | Not completed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automated redirect smoke test used a clearly identified placeholder client</a:t>
            </a:r>
          </a:p>
          <a:p xmlns:a="http://schemas.openxmlformats.org/drawingml/2006/main">
            <a:r>
              <a:t>secret and did **not** exchange tokens or sign in a user. This is why passing</a:t>
            </a:r>
          </a:p>
          <a:p xmlns:a="http://schemas.openxmlformats.org/drawingml/2006/main">
            <a:r>
              <a:t>redirect tests did not establish that actual Cognito scopes, email verification,</a:t>
            </a:r>
          </a:p>
          <a:p xmlns:a="http://schemas.openxmlformats.org/drawingml/2006/main">
            <a:r>
              <a:t>the private secret or AWS console URL settings were correct.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tests used `SMS_UAT_20261015` and `SMS_FINANCE_UAT_20261015`, not a deployed</a:t>
            </a:r>
          </a:p>
          <a:p xmlns:a="http://schemas.openxmlformats.org/drawingml/2006/main">
            <a:r>
              <a:t>RDS database. Temporary test servers were stopped after testing. Synthetic test</a:t>
            </a:r>
          </a:p>
          <a:p xmlns:a="http://schemas.openxmlformats.org/drawingml/2006/main">
            <a:r>
              <a:t>data and local evidence were retained. Existing unrelated project-file edits</a:t>
            </a:r>
          </a:p>
          <a:p xmlns:a="http://schemas.openxmlformats.org/drawingml/2006/main">
            <a:r>
              <a:t>were preserved; no commits or deployment were performed as part of this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files include `tests/aws-release-build.log`,</a:t>
            </a:r>
          </a:p>
          <a:p xmlns:a="http://schemas.openxmlformats.org/drawingml/2006/main">
            <a:r>
              <a:t>`tests/aws-complete-workspace.log`, `tests/aws-complete-finance.log`,</a:t>
            </a:r>
          </a:p>
          <a:p xmlns:a="http://schemas.openxmlformats.org/drawingml/2006/main">
            <a:r>
              <a:t>`tests/aws-complete-anonymous.log`, `tests/aws-runtime-results.log`,</a:t>
            </a:r>
          </a:p>
          <a:p xmlns:a="http://schemas.openxmlformats.org/drawingml/2006/main">
            <a:r>
              <a:t>`tests/aws-template-validation.log` and `tests/aws-cfn-lint-results.log`.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Remaining work before AWS cutover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Replace the exposed client secret and privately update configuration.</a:t>
            </a:r>
          </a:p>
          <a:p xmlns:a="http://schemas.openxmlformats.org/drawingml/2006/main">
            <a:r>
              <a:t>2. Confirm the initial Cognito user's verified email and complete a successful</a:t>
            </a:r>
          </a:p>
          <a:p xmlns:a="http://schemas.openxmlformats.org/drawingml/2006/main">
            <a:r>
              <a:t>   app login, required password change, administrator assignment and logout.</a:t>
            </a:r>
          </a:p>
          <a:p xmlns:a="http://schemas.openxmlformats.org/drawingml/2006/main">
            <a:r>
              <a:t>3. Confirm every staff role, inactive-user handling and direct URL restrictions</a:t>
            </a:r>
          </a:p>
          <a:p xmlns:a="http://schemas.openxmlformats.org/drawingml/2006/main">
            <a:r>
              <a:t>   in authenticated browser UAT; verify bootstrap against the intended SQL DB.</a:t>
            </a:r>
          </a:p>
          <a:p xmlns:a="http://schemas.openxmlformats.org/drawingml/2006/main">
            <a:r>
              <a:t>4. Choose/prepare the AWS network, public hostname and ACM certificate; review</a:t>
            </a:r>
          </a:p>
          <a:p xmlns:a="http://schemas.openxmlformats.org/drawingml/2006/main">
            <a:r>
              <a:t>   actual service costs and account permissions/quotas.</a:t>
            </a:r>
          </a:p>
          <a:p xmlns:a="http://schemas.openxmlformats.org/drawingml/2006/main">
            <a:r>
              <a:t>5. Provision RDS and migrate existing school data, preserving users, roles,</a:t>
            </a:r>
          </a:p>
          <a:p xmlns:a="http://schemas.openxmlformats.org/drawingml/2006/main">
            <a:r>
              <a:t>   payments and ledgers. Reconcile totals and keep a recoverable backup.</a:t>
            </a:r>
          </a:p>
          <a:p xmlns:a="http://schemas.openxmlformats.org/drawingml/2006/main">
            <a:r>
              <a:t>6. Build and scan the container, push to ECR and provision the application stack</a:t>
            </a:r>
          </a:p>
          <a:p xmlns:a="http://schemas.openxmlformats.org/drawingml/2006/main">
            <a:r>
              <a:t>   with the private runtime secret. Run the separate `--migrate-only` task and</a:t>
            </a:r>
          </a:p>
          <a:p xmlns:a="http://schemas.openxmlformats.org/drawingml/2006/main">
            <a:r>
              <a:t>   inspect its successful exit before starting the service.</a:t>
            </a:r>
          </a:p>
          <a:p xmlns:a="http://schemas.openxmlformats.org/drawingml/2006/main">
            <a:r>
              <a:t>7. Register the deployed HTTPS callback/sign-out URLs in the existing Cognito</a:t>
            </a:r>
          </a:p>
          <a:p xmlns:a="http://schemas.openxmlformats.org/drawingml/2006/main">
            <a:r>
              <a:t>   client and update the deployed LogoutUri.</a:t>
            </a:r>
          </a:p>
          <a:p xmlns:a="http://schemas.openxmlformats.org/drawingml/2006/main">
            <a:r>
              <a:t>8. Verify RDS TLS, application health, proxy redirects, EFS keys across task</a:t>
            </a:r>
          </a:p>
          <a:p xmlns:a="http://schemas.openxmlformats.org/drawingml/2006/main">
            <a:r>
              <a:t>   restarts/replicas, logging, backup restoration, performance and business UAT.</a:t>
            </a:r>
          </a:p>
          <a:p xmlns:a="http://schemas.openxmlformats.org/drawingml/2006/main">
            <a:r>
              <a:t>9. Cut over DNS only after acceptance. Retain the previous environment until</a:t>
            </a:r>
          </a:p>
          <a:p xmlns:a="http://schemas.openxmlformats.org/drawingml/2006/main">
            <a:r>
              <a:t>   rollback and data recovery have been reviewed.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ECS deployment rollback does not undo database migrations. Keep schema changes</a:t>
            </a:r>
          </a:p>
          <a:p xmlns:a="http://schemas.openxmlformats.org/drawingml/2006/main">
            <a:r>
              <a:t>compatible with the previous image, retain backups and never use deletion of RDS</a:t>
            </a:r>
          </a:p>
          <a:p xmlns:a="http://schemas.openxmlformats.org/drawingml/2006/main">
            <a:r>
              <a:t>or authentication keys as a rollback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deploy/aws/README.md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Remaining work before AWS cutover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Replace the exposed client secret and privately update configuration.</a:t>
            </a:r>
          </a:p>
          <a:p xmlns:a="http://schemas.openxmlformats.org/drawingml/2006/main">
            <a:r>
              <a:t>2. Confirm the initial Cognito user's verified email and complete a successful</a:t>
            </a:r>
          </a:p>
          <a:p xmlns:a="http://schemas.openxmlformats.org/drawingml/2006/main">
            <a:r>
              <a:t>   app login, required password change, administrator assignment and logout.</a:t>
            </a:r>
          </a:p>
          <a:p xmlns:a="http://schemas.openxmlformats.org/drawingml/2006/main">
            <a:r>
              <a:t>3. Confirm every staff role, inactive-user handling and direct URL restrictions</a:t>
            </a:r>
          </a:p>
          <a:p xmlns:a="http://schemas.openxmlformats.org/drawingml/2006/main">
            <a:r>
              <a:t>   in authenticated browser UAT; verify bootstrap against the intended SQL DB.</a:t>
            </a:r>
          </a:p>
          <a:p xmlns:a="http://schemas.openxmlformats.org/drawingml/2006/main">
            <a:r>
              <a:t>4. Choose/prepare the AWS network, public hostname and ACM certificate; review</a:t>
            </a:r>
          </a:p>
          <a:p xmlns:a="http://schemas.openxmlformats.org/drawingml/2006/main">
            <a:r>
              <a:t>   actual service costs and account permissions/quotas.</a:t>
            </a:r>
          </a:p>
          <a:p xmlns:a="http://schemas.openxmlformats.org/drawingml/2006/main">
            <a:r>
              <a:t>5. Provision RDS and migrate existing school data, preserving users, roles,</a:t>
            </a:r>
          </a:p>
          <a:p xmlns:a="http://schemas.openxmlformats.org/drawingml/2006/main">
            <a:r>
              <a:t>   payments and ledgers. Reconcile totals and keep a recoverable backup.</a:t>
            </a:r>
          </a:p>
          <a:p xmlns:a="http://schemas.openxmlformats.org/drawingml/2006/main">
            <a:r>
              <a:t>6. Build and scan the container, push to ECR and provision the application stack</a:t>
            </a:r>
          </a:p>
          <a:p xmlns:a="http://schemas.openxmlformats.org/drawingml/2006/main">
            <a:r>
              <a:t>   with the private runtime secret. Run the separate `--migrate-only` task and</a:t>
            </a:r>
          </a:p>
          <a:p xmlns:a="http://schemas.openxmlformats.org/drawingml/2006/main">
            <a:r>
              <a:t>   inspect its successful exit before starting the service.</a:t>
            </a:r>
          </a:p>
          <a:p xmlns:a="http://schemas.openxmlformats.org/drawingml/2006/main">
            <a:r>
              <a:t>7. Register the deployed HTTPS callback/sign-out URLs in the existing Cognito</a:t>
            </a:r>
          </a:p>
          <a:p xmlns:a="http://schemas.openxmlformats.org/drawingml/2006/main">
            <a:r>
              <a:t>   client and update the deployed LogoutUri.</a:t>
            </a:r>
          </a:p>
          <a:p xmlns:a="http://schemas.openxmlformats.org/drawingml/2006/main">
            <a:r>
              <a:t>8. Verify RDS TLS, application health, proxy redirects, EFS keys across task</a:t>
            </a:r>
          </a:p>
          <a:p xmlns:a="http://schemas.openxmlformats.org/drawingml/2006/main">
            <a:r>
              <a:t>   restarts/replicas, logging, backup restoration, performance and business UAT.</a:t>
            </a:r>
          </a:p>
          <a:p xmlns:a="http://schemas.openxmlformats.org/drawingml/2006/main">
            <a:r>
              <a:t>9. Cut over DNS only after acceptance. Retain the previous environment until</a:t>
            </a:r>
          </a:p>
          <a:p xmlns:a="http://schemas.openxmlformats.org/drawingml/2006/main">
            <a:r>
              <a:t>   rollback and data recovery have been reviewed.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ECS deployment rollback does not undo database migrations. Keep schema changes</a:t>
            </a:r>
          </a:p>
          <a:p xmlns:a="http://schemas.openxmlformats.org/drawingml/2006/main">
            <a:r>
              <a:t>compatible with the previous image, retain backups and never use deletion of RDS</a:t>
            </a:r>
          </a:p>
          <a:p xmlns:a="http://schemas.openxmlformats.org/drawingml/2006/main">
            <a:r>
              <a:t>or authentication keys as a rollback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C:\Users\PC\source\repos\De-Porress\docs\aws-migration-record.md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Prepared AWS architecture and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Component | Prepared AWS target | Status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Staff sign-in | Cognito | Pool/client/user created by user; final login/logout acceptance pending |</a:t>
            </a:r>
          </a:p>
          <a:p xmlns:a="http://schemas.openxmlformats.org/drawingml/2006/main">
            <a:r>
              <a:t>| App image | ECR | Build/push script prepared; image not built/pushed here |</a:t>
            </a:r>
          </a:p>
          <a:p xmlns:a="http://schemas.openxmlformats.org/drawingml/2006/main">
            <a:r>
              <a:t>| App hosting | ECS Fargate | CloudFormation template prepared; not deployed |</a:t>
            </a:r>
          </a:p>
          <a:p xmlns:a="http://schemas.openxmlformats.org/drawingml/2006/main">
            <a:r>
              <a:t>| HTTPS entry | Application Load Balancer + ACM | Template prepared; hostname/certificate/network still required |</a:t>
            </a:r>
          </a:p>
          <a:p xmlns:a="http://schemas.openxmlformats.org/drawingml/2006/main">
            <a:r>
              <a:t>| Database | Private RDS SQL Server Express for test scale | Template prepared; not provisioned/migrated |</a:t>
            </a:r>
          </a:p>
          <a:p xmlns:a="http://schemas.openxmlformats.org/drawingml/2006/main">
            <a:r>
              <a:t>| Runtime secrets | Secrets Manager | Injection prepared; cloud secrets still need creation |</a:t>
            </a:r>
          </a:p>
          <a:p xmlns:a="http://schemas.openxmlformats.org/drawingml/2006/main">
            <a:r>
              <a:t>| Authentication key persistence | Encrypted EFS | Template prepared; not deployed |</a:t>
            </a:r>
          </a:p>
          <a:p xmlns:a="http://schemas.openxmlformats.org/drawingml/2006/main">
            <a:r>
              <a:t>| Runtime logging | CloudWatch Logs | Template prepared; not deployed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source and handover files: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File | Purpose |</a:t>
            </a:r>
          </a:p>
          <a:p xmlns:a="http://schemas.openxmlformats.org/drawingml/2006/main">
            <a:r>
              <a:t>| --- | --- |</a:t>
            </a:r>
          </a:p>
          <a:p xmlns:a="http://schemas.openxmlformats.org/drawingml/2006/main">
            <a:r>
              <a:t>| `SMS.Web/Program.cs` | Cognito setup, cookies, proxy handling, migrations and health |</a:t>
            </a:r>
          </a:p>
          <a:p xmlns:a="http://schemas.openxmlformats.org/drawingml/2006/main">
            <a:r>
              <a:t>| `SMS.Web/Services/CognitoIdentity.cs` | Verified-email guard |</a:t>
            </a:r>
          </a:p>
          <a:p xmlns:a="http://schemas.openxmlformats.org/drawingml/2006/main">
            <a:r>
              <a:t>| `SMS.Web/Services/CognitoSettings.cs` | Configuration validation |</a:t>
            </a:r>
          </a:p>
          <a:p xmlns:a="http://schemas.openxmlformats.org/drawingml/2006/main">
            <a:r>
              <a:t>| `SMS.Web/Services/CurrentUserService.cs` | Claims, matching and bootstrap behavior |</a:t>
            </a:r>
          </a:p>
          <a:p xmlns:a="http://schemas.openxmlformats.org/drawingml/2006/main">
            <a:r>
              <a:t>| `SMS.Web/Areas/Identity/Pages/Account/StaffLogin.cshtml.cs` | App login entry |</a:t>
            </a:r>
          </a:p>
          <a:p xmlns:a="http://schemas.openxmlformats.org/drawingml/2006/main">
            <a:r>
              <a:t>| `SMS.Web/Areas/Identity/Pages/Account/Logout.cshtml.cs` | Protected app logout |</a:t>
            </a:r>
          </a:p>
          <a:p xmlns:a="http://schemas.openxmlformats.org/drawingml/2006/main">
            <a:r>
              <a:t>| `SMS.Web/appsettings.Production.json` | Production defaults requiring external configuration |</a:t>
            </a:r>
          </a:p>
          <a:p xmlns:a="http://schemas.openxmlformats.org/drawingml/2006/main">
            <a:r>
              <a:t>| `SMS.Web/Dockerfile` and `.dockerignore` | Container build and exclusions |</a:t>
            </a:r>
          </a:p>
          <a:p xmlns:a="http://schemas.openxmlformats.org/drawingml/2006/main">
            <a:r>
              <a:t>| `deploy/aws/application.yaml` | ECS, ALB, EFS, IAM and logs; uses existing Cognito/RDS/network |</a:t>
            </a:r>
          </a:p>
          <a:p xmlns:a="http://schemas.openxmlformats.org/drawingml/2006/main">
            <a:r>
              <a:t>| `deploy/aws/database.yaml` | Private RDS instance, generated master secret and security group |</a:t>
            </a:r>
          </a:p>
          <a:p xmlns:a="http://schemas.openxmlformats.org/drawingml/2006/main">
            <a:r>
              <a:t>| `deploy/aws/cognito.yaml` | Optional **new** pool template; do not redeploy to replace the existing pool accidentally |</a:t>
            </a:r>
          </a:p>
          <a:p xmlns:a="http://schemas.openxmlformats.org/drawingml/2006/main">
            <a:r>
              <a:t>| `deploy/aws/environment.example` | Deployment configuration names, no real secret values |</a:t>
            </a:r>
          </a:p>
          <a:p xmlns:a="http://schemas.openxmlformats.org/drawingml/2006/main">
            <a:r>
              <a:t>| `deploy/aws/push-image.ps1` | Build/push to an existing ECR repository |</a:t>
            </a:r>
          </a:p>
          <a:p xmlns:a="http://schemas.openxmlformats.org/drawingml/2006/main">
            <a:r>
              <a:t>| `deploy/aws/README.md` | Deployment order, prerequisites and rollback notes |</a:t>
            </a:r>
          </a:p>
          <a:p xmlns:a="http://schemas.openxmlformats.org/drawingml/2006/main">
            <a:r>
              <a:t>| `docs/aws-migration.md` | Configuration/setup reference |</a:t>
            </a:r>
          </a:p>
          <a:p xmlns:a="http://schemas.openxmlformats.org/drawingml/2006/main">
            <a:r>
              <a:t>| `docs/uat-2026-10-15.md` | Original UAT findings and remediation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application template expects an existing VPC, public/private subnets, outbound</a:t>
            </a:r>
          </a:p>
          <a:p xmlns:a="http://schemas.openxmlformats.org/drawingml/2006/main">
            <a:r>
              <a:t>connectivity, a hostname and an ACM certificate. It does not create that entire</a:t>
            </a:r>
          </a:p>
          <a:p xmlns:a="http://schemas.openxmlformats.org/drawingml/2006/main">
            <a:r>
              <a:t>network or register DNS. Its initial ECS DesiredCount is zero so migrations can</a:t>
            </a:r>
          </a:p>
          <a:p xmlns:a="http://schemas.openxmlformats.org/drawingml/2006/main">
            <a:r>
              <a:t>be reviewed/run before enabling the service. The RDS template is a small,</a:t>
            </a:r>
          </a:p>
          <a:p xmlns:a="http://schemas.openxmlformats.org/drawingml/2006/main">
            <a:r>
              <a:t>single-AZ test design, not a production high-availability guarantee.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10. Official references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[Cognito app-client configuration](https://docs.aws.amazon.com/cognito/latest/developerguide/user-pool-settings-client-apps.html)</a:t>
            </a:r>
          </a:p>
          <a:p xmlns:a="http://schemas.openxmlformats.org/drawingml/2006/main">
            <a:r>
              <a:t>- [Cognito authorization endpoint](https://docs.aws.amazon.com/cognito/latest/developerguide/authorization-endpoint.html)</a:t>
            </a:r>
          </a:p>
          <a:p xmlns:a="http://schemas.openxmlformats.org/drawingml/2006/main">
            <a:r>
              <a:t>- [Cognito logout endpoint](https://docs.aws.amazon.com/cognito/latest/developerguide/logout-endpoint.html)</a:t>
            </a:r>
          </a:p>
          <a:p xmlns:a="http://schemas.openxmlformats.org/drawingml/2006/main">
            <a:r>
              <a:t>- [RDS TLS certificates](https://docs.aws.amazon.com/AmazonRDS/latest/UserGuide/UsingWithRDS.SSL.html)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status statements above record this project's work and user reports. They</a:t>
            </a:r>
          </a:p>
          <a:p xmlns:a="http://schemas.openxmlformats.org/drawingml/2006/main">
            <a:r>
              <a:t>are not a claim that all listed AWS services have been provisioned or accepted.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b9f5b2b724c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246725b854c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e89b757f14d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b4204480e4c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d507b09d447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3d1392a2348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7E4DB7-6A35-4EED-8DDD-6B88C4A99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8AF1F52-731D-4168-8482-4F746CA0FF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7DC47B-035E-40BD-B904-95C873593B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34AF9B-50B8-4B20-8978-7A930E6CCD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DBA259-F73F-4D71-9FEA-BC86C97D62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E8CBF5-C4ED-45FE-852E-87043B818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E63F49-B7BD-432A-85A2-DEBF384FDD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059ADB-62EF-43A1-AEF1-3F737DC05A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5C5712-CD69-40E8-8D86-010A44BF07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B59736-A26A-4BA5-A951-B924650B53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c1c0f5b744446c" /><Relationship Type="http://schemas.openxmlformats.org/officeDocument/2006/relationships/slideLayout" Target="/ppt/slideLayouts/slideLayout1.xml" Id="R26442572a228474a" /><Relationship Type="http://schemas.openxmlformats.org/officeDocument/2006/relationships/slideLayout" Target="/ppt/slideLayouts/slideLayout2.xml" Id="R45eaab3bceef412b" /><Relationship Type="http://schemas.openxmlformats.org/officeDocument/2006/relationships/slideLayout" Target="/ppt/slideLayouts/slideLayout3.xml" Id="Re5b8bd4a6c174753" /><Relationship Type="http://schemas.openxmlformats.org/officeDocument/2006/relationships/slideLayout" Target="/ppt/slideLayouts/slideLayout4.xml" Id="R00ba4a9f93a64a20" /><Relationship Type="http://schemas.openxmlformats.org/officeDocument/2006/relationships/slideLayout" Target="/ppt/slideLayouts/slideLayout5.xml" Id="R78b1540eaf014dec" /><Relationship Type="http://schemas.openxmlformats.org/officeDocument/2006/relationships/slideLayout" Target="/ppt/slideLayouts/slideLayout6.xml" Id="R0854c5cf17994d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442572a228474a"/>
    <p:sldLayoutId xmlns:r="http://schemas.openxmlformats.org/officeDocument/2006/relationships" id="2147483650" r:id="R45eaab3bceef412b"/>
    <p:sldLayoutId xmlns:r="http://schemas.openxmlformats.org/officeDocument/2006/relationships" id="2147483651" r:id="Re5b8bd4a6c174753"/>
    <p:sldLayoutId xmlns:r="http://schemas.openxmlformats.org/officeDocument/2006/relationships" id="2147483652" r:id="R00ba4a9f93a64a20"/>
    <p:sldLayoutId xmlns:r="http://schemas.openxmlformats.org/officeDocument/2006/relationships" id="2147483653" r:id="R78b1540eaf014dec"/>
    <p:sldLayoutId xmlns:r="http://schemas.openxmlformats.org/officeDocument/2006/relationships" id="2147483654" r:id="R0854c5cf17994d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b36f601fba498a" /><Relationship Type="http://schemas.openxmlformats.org/officeDocument/2006/relationships/image" Target="/ppt/media/image.png" Id="Re334240788ff4f84" /><Relationship Type="http://schemas.openxmlformats.org/officeDocument/2006/relationships/notesSlide" Target="/ppt/notesSlides/notesSlide1.xml" Id="Re76709cf920f40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0b97ccbf5442b5" /><Relationship Type="http://schemas.openxmlformats.org/officeDocument/2006/relationships/notesSlide" Target="/ppt/notesSlides/notesSlide2.xml" Id="Rdfe3e8f3cc864e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b11c88cefc4bb9" /><Relationship Type="http://schemas.openxmlformats.org/officeDocument/2006/relationships/notesSlide" Target="/ppt/notesSlides/notesSlide3.xml" Id="R1dc77e06e20e45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1782c60c94435c" /><Relationship Type="http://schemas.openxmlformats.org/officeDocument/2006/relationships/notesSlide" Target="/ppt/notesSlides/notesSlide4.xml" Id="R405ac3bf154444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396d5e12f04c4c" /><Relationship Type="http://schemas.openxmlformats.org/officeDocument/2006/relationships/notesSlide" Target="/ppt/notesSlides/notesSlide5.xml" Id="R39c461dc113f4e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98eddaa1a14f8b" /><Relationship Type="http://schemas.openxmlformats.org/officeDocument/2006/relationships/notesSlide" Target="/ppt/notesSlides/notesSlide6.xml" Id="R0de95820062f46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de4bfe3fd47e5" /><Relationship Type="http://schemas.openxmlformats.org/officeDocument/2006/relationships/notesSlide" Target="/ppt/notesSlides/notesSlide7.xml" Id="Rbed0849818dc4a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502ad6cd0424f" /><Relationship Type="http://schemas.openxmlformats.org/officeDocument/2006/relationships/notesSlide" Target="/ppt/notesSlides/notesSlide8.xml" Id="R2b0ad5c854fd4e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09ffa5b494edc" /><Relationship Type="http://schemas.openxmlformats.org/officeDocument/2006/relationships/notesSlide" Target="/ppt/notesSlides/notesSlide9.xml" Id="Rb5a5394e954646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ff626717a4953" /><Relationship Type="http://schemas.openxmlformats.org/officeDocument/2006/relationships/notesSlide" Target="/ppt/notesSlides/notesSlide10.xml" Id="R348ed792addb41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bc676630d0419c" /><Relationship Type="http://schemas.openxmlformats.org/officeDocument/2006/relationships/notesSlide" Target="/ppt/notesSlides/notesSlide11.xml" Id="R786bcedf1b4647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49f71a33424db3" /><Relationship Type="http://schemas.openxmlformats.org/officeDocument/2006/relationships/notesSlide" Target="/ppt/notesSlides/notesSlide12.xml" Id="Rbb35e7d7defb44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dcd3817bb24bb9" /><Relationship Type="http://schemas.openxmlformats.org/officeDocument/2006/relationships/notesSlide" Target="/ppt/notesSlides/notesSlide13.xml" Id="Rbc15b810c5a44f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6ddf30b01b4d2a" /><Relationship Type="http://schemas.openxmlformats.org/officeDocument/2006/relationships/notesSlide" Target="/ppt/notesSlides/notesSlide14.xml" Id="Rf5c0ad3bae5948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61752aa8c47c8" /><Relationship Type="http://schemas.openxmlformats.org/officeDocument/2006/relationships/notesSlide" Target="/ppt/notesSlides/notesSlide15.xml" Id="R603d887f5a5d41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e30fd718a148d3" /><Relationship Type="http://schemas.openxmlformats.org/officeDocument/2006/relationships/notesSlide" Target="/ppt/notesSlides/notesSlide16.xml" Id="Rda6125e3d9f043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d59b8e6e5244dc" /><Relationship Type="http://schemas.openxmlformats.org/officeDocument/2006/relationships/notesSlide" Target="/ppt/notesSlides/notesSlide17.xml" Id="R7c83b50f927443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338C9-77E9-493D-AD57-82B2FF1F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ST MARTIN DE PORRES</a:t>
            </a:r>
          </a:p>
          <a:p xmlns:a="http://schemas.openxmlformats.org/drawingml/2006/main">
            <a:pPr>
              <a:defRPr sz="1725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PRIMARY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2A76A-4F61-4D45-935E-665E8CC4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715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AWS migration</a:t>
            </a:r>
          </a:p>
          <a:p xmlns:a="http://schemas.openxmlformats.org/drawingml/2006/main">
            <a:pPr>
              <a:defRPr sz="495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7EF7E-BDA9-4BDE-9E9D-242DBD1F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Application changes and setup history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5C7FA-4A17-42B1-8C83-CDDD3608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81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15 October 2026</a:t>
            </a:r>
          </a:p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Europe (Stockholm), eu-north-1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26916-7CED-4C39-9AE6-C8B00645D4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4240788ff4f84"/>
          <a:stretch xmlns:a="http://schemas.openxmlformats.org/drawingml/2006/main"/>
        </p:blipFill>
        <p:spPr>
          <a:xfrm xmlns:a="http://schemas.openxmlformats.org/drawingml/2006/main">
            <a:off x="6934200" y="1750514"/>
            <a:ext cx="4572000" cy="34522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25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8E42B-25BB-4307-9080-9B1211B9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CURRENT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51A48-BED4-439E-ACF0-00EDC5B0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Migration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EE45F-1BAD-4404-84B4-338BCD1A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E8C7A-7F9C-45CB-A7F5-1872F5E9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4FDBD-D51F-4712-B703-8600A0EC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72A9A-6C2A-4344-B42D-DA869CFF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000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Cognito pool, web client and first user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Application authentication changes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Deployment templates and local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864FA-1EEF-4B90-B2F8-94BF5833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Still 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D11A6-FAE8-4C10-BE9A-9A810075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857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Confirmed staff login and logout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AWS hosting and RDS deployment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School data transfer and final UAT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19A35-08C2-42D5-98BE-D3899F2B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The code is prepared. Cloud deployment and acceptance remain open.</a:t>
            </a:r>
          </a:p>
        </p:txBody>
      </p:sp>
    </p:spTree>
    <p:extLst>
      <p:ext uri="{BB962C8B-B14F-4D97-AF65-F5344CB8AC3E}">
        <p14:creationId xmlns:p14="http://schemas.microsoft.com/office/powerpoint/2010/main" val="3921083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AB139-5268-4253-A8F3-00AB49BF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4062F-BA04-47D1-B7A8-BA9C44F1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Scope of the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5205D-D1C9-4E14-BA05-A8E6B408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C35F-4B6C-4E52-9858-9C85E249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4A6AD-48EC-43FA-8C66-F217360BCBCC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3714750"/>
                <a:gridCol w="481965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8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Earlier setup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8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AWS target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8364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Staff identity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Microsoft Entra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Amazon Cognito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Application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ASP.NET Core Razor Pages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Same .NET 10 application on ECS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Database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SQL Server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RDS for SQL Server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Operations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Local runtime configuration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AWS secrets, logs and persistent keys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35D84-ACA1-4EB8-A39A-DF6FAA43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The existing SQL models and migrations stay in place. Staff need Cognito credentials.</a:t>
            </a:r>
          </a:p>
        </p:txBody>
      </p:sp>
    </p:spTree>
    <p:extLst>
      <p:ext uri="{BB962C8B-B14F-4D97-AF65-F5344CB8AC3E}">
        <p14:creationId xmlns:p14="http://schemas.microsoft.com/office/powerpoint/2010/main" val="1222203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C82D0-8193-40D9-BCF3-ABA55694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MIGRATION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384CA-AE7E-46DC-9D51-43A54E4D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Sequence of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8CE1A-FF51-4E82-9E56-45971B24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48DDC-8101-47B0-A6F5-127E7E05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DDF36-5533-4175-BE0A-FAECC111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01  AWS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A0605-880B-4A35-A96F-4091AEE5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Reviewed database options, then expanded the scope to identity and hosting.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9A04B-A45B-4B2D-B066-0680ED64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02  Release 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8D2FD-F79A-4FA4-B04A-FC476C2D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Tested the app and corrected access, payment and logout loopholes.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D7DDC-4E10-4B32-9E8C-24FA92D7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03  Cognito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4C492-11CE-4797-A23C-30F99956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Created the user pool, confidential web client and first invited user.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F1F78-7057-42DF-B7AA-8C8607DD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04  Application migration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68949-787D-4C26-BE92-61284323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Changed authentication, production configuration and container preparation.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99198-1744-4BA2-B8B8-C0D8553F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05  Troubleshooting and handover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8CE1F-7C80-48C0-889B-02360E05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Resolved configuration steps and prepared the remaining deployment work.</a:t>
            </a:r>
          </a:p>
        </p:txBody>
      </p:sp>
    </p:spTree>
    <p:extLst>
      <p:ext uri="{BB962C8B-B14F-4D97-AF65-F5344CB8AC3E}">
        <p14:creationId xmlns:p14="http://schemas.microsoft.com/office/powerpoint/2010/main" val="1304598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BB318-3DC6-4FE4-9B46-D64E1145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CONFIGURED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DAC0A-3C73-469F-BAB4-8696CAA8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Cognito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EE731-70DB-4DD6-ACC4-58D8450F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6162D-5691-4056-8118-6BB68D09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A9290-343F-4300-8F42-FF45E6CD5F48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7677150"/>
              </a:tblGrid>
              <a:tr h="5851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8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Recorded value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8364B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Region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eu-north-1, Europe (Stockholm)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User pool 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eu-north-1_LOhGBF9su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App client 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6ulsn0evv7q8qmoeo69al441sg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Application type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Traditional web application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Sign-in method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Email, with administrator-created users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Grant and scopes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Authorization code with openid, email, profile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D6A2D-FC18-4616-8424-2AA7522E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The detailed issuer and domain URLs are in the speaker notes and migration record.</a:t>
            </a:r>
          </a:p>
        </p:txBody>
      </p:sp>
    </p:spTree>
    <p:extLst>
      <p:ext uri="{BB962C8B-B14F-4D97-AF65-F5344CB8AC3E}">
        <p14:creationId xmlns:p14="http://schemas.microsoft.com/office/powerpoint/2010/main" val="1326999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F5491-A4A4-4AF8-A050-3C932907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02207-5354-4635-B8AE-B45E7CE3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Staff sign-in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F0C1D-33C2-40FD-9442-F284552F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169C8-C742-4C3D-8EBB-93C85347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2F5C2-A9AB-455E-BE2E-11D0819C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01  Staff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49299-1C50-45EF-98D8-C01DEB61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The application starts a fresh OpenID Connect request.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90841-8362-4EA3-AD00-4E4829D8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02  Cognito login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96348-0567-4DC3-890A-33CB738C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Cognito handles credentials and any temporary-password 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86580-58B5-432C-A3B2-B5770FAB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03  Token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0192F-0585-4795-B814-B742AAFF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The app checks the token and requires a verified email address.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7DE55-55D4-420C-9591-C5FA5D2C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04  School account lookup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48769-FF1F-4A95-9575-7FBF628F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The app matches the verified email to the existing SQL user.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367AE-F0A2-4CF5-BEC1-760F1A0A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05  Role enforcement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14E79-B4D0-43B0-8124-52972CB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Active status, roles and rights control access to school features.</a:t>
            </a:r>
          </a:p>
        </p:txBody>
      </p:sp>
    </p:spTree>
    <p:extLst>
      <p:ext uri="{BB962C8B-B14F-4D97-AF65-F5344CB8AC3E}">
        <p14:creationId xmlns:p14="http://schemas.microsoft.com/office/powerpoint/2010/main" val="2983516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9983A-F787-4A6D-99A0-381D101E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ACCESS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49B5E-5CF4-4552-B41D-7C024306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Initial administrator and staff rights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5F14E-429D-4A63-93F4-FDE74B2F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8EBA8-10B2-46F5-AEE7-98372115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59283-DB10-4A49-9966-B42B4ED4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Initial administrator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25FB7-9107-45CE-824F-4B1099BD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19112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The SQL User table is empty.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The login email is 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The email matches</a:t>
            </a:r>
          </a:p>
          <a:p xmlns:a="http://schemas.openxmlformats.org/drawingml/2006/main">
            <a:pPr>
              <a:defRPr sz="195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Authentication:BootstrapAdminEmail.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24ECB-2ACF-4AD9-8A0D-2CCABE47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Other staff accounts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544BA-D3BC-4C47-965E-338E7A02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New users start inactive with no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Existing users keep their SQL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The ADMIN role has all app rights.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AWS console access grants no school role.</a:t>
            </a:r>
          </a:p>
        </p:txBody>
      </p:sp>
    </p:spTree>
    <p:extLst>
      <p:ext uri="{BB962C8B-B14F-4D97-AF65-F5344CB8AC3E}">
        <p14:creationId xmlns:p14="http://schemas.microsoft.com/office/powerpoint/2010/main" val="2288856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7DC57-929D-4C38-B45D-01EFBC6E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DEVELOPMENT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5D3B1-4FEC-4FAB-A05C-169E8323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Local URLs and private settings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F6E73-1D13-47A0-965C-2B0A461A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8A3D7-3CD0-48F0-9442-53839603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6FC2E-240D-476A-8C79-2ECD2F2C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HTTPS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0A195-8D66-4EA7-BAA1-FDBED4A2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https://localhost:7246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6405F-6075-4816-8030-08C70D2A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Cognito callback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BE269-235D-4C96-896C-4DE35030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https://localhost:7246/signin-oidc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8E3BB-6446-4A9A-9584-CA54B9E3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Allowed sign-out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9C935-820C-4D4F-BFB9-EE31A4FD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https://localhost:7246/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CEBD6-9C80-41C3-98F8-A404C865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Visual Studio: SMS.Web &gt; Manage User Secrets</a:t>
            </a:r>
          </a:p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Store ClientSecret and BootstrapAdminEmail privately. Keep the client secret out of Git.</a:t>
            </a:r>
          </a:p>
        </p:txBody>
      </p:sp>
    </p:spTree>
    <p:extLst>
      <p:ext uri="{BB962C8B-B14F-4D97-AF65-F5344CB8AC3E}">
        <p14:creationId xmlns:p14="http://schemas.microsoft.com/office/powerpoint/2010/main" val="2138470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BD8B4-5852-461F-9A97-272B5606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TROUBLESHOOTING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D8A64-3AA9-43AF-8FA5-D27209F9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Login errors and corrective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C62E9-6F76-4699-8CC9-C354A53D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DA9DC-DCB7-49FD-805B-E373B9D1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C7842-DD71-4F42-89E8-8C3DF40659E9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762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4905375"/>
                <a:gridCol w="3438525"/>
              </a:tblGrid>
              <a:tr h="94059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error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8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 or corrective step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8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Recorded outcome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8364B"/>
                    </a:solidFill>
                  </a:tcPr>
                </a:tc>
              </a:tr>
              <a:tr h="9405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redirect_mismatch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Match the exact HTTPS callback URL and start login from the app.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Flow progressed to the next check.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05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invalid_scope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Allow openid, email and profile in the Cognito client.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Flow progressed to token validation.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05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Verified email required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Confirm that the Cognito user has email_verified=true.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Final accepted session remains unconfirmed.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3FF8A-1D52-425F-AF74-E6A8CD03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 successful redirect test does not prove that a real staff login works.</a:t>
            </a:r>
          </a:p>
        </p:txBody>
      </p:sp>
    </p:spTree>
    <p:extLst>
      <p:ext uri="{BB962C8B-B14F-4D97-AF65-F5344CB8AC3E}">
        <p14:creationId xmlns:p14="http://schemas.microsoft.com/office/powerpoint/2010/main" val="12872134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76789-9FCD-46BB-9AD2-689C9804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TROUBLESHOOTING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09C16-A500-4A57-BF25-9CEBB235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Logout error and required setting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0057B-7BED-42E0-885C-4060F43B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C16E5-A791-4FA4-B690-2C1503FF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B8630-EBA6-48C9-AC8D-024A55FA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Latest reported error: Invalid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C121E-96C7-431A-9C4D-C0358C57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The app sends this logout destination: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A20C1-25AF-4797-A6C5-BAB4A816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https://localhost:7246/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9BE4F-136A-4DB6-8841-77D84CD7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Cognito must list the same value under Allowed sign-out URLs,</a:t>
            </a:r>
          </a:p>
          <a:p xmlns:a="http://schemas.openxmlformats.org/drawingml/2006/main">
            <a:pPr>
              <a:defRPr sz="2175" b="0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64B"/>
                </a:solidFill>
                <a:latin typeface="Arial"/>
                <a:ea typeface="Arial"/>
                <a:cs typeface="Arial"/>
              </a:rPr>
              <a:t>including the trailing slash.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3E301-7CEF-4768-8142-CF262CDD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The app protects logout with POST and antiforgery validation.</a:t>
            </a:r>
          </a:p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Final successful logout has not yet been confirmed.</a:t>
            </a:r>
          </a:p>
        </p:txBody>
      </p:sp>
    </p:spTree>
    <p:extLst>
      <p:ext uri="{BB962C8B-B14F-4D97-AF65-F5344CB8AC3E}">
        <p14:creationId xmlns:p14="http://schemas.microsoft.com/office/powerpoint/2010/main" val="11743551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348B8-BDF5-4ACD-9266-12ED7565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RELEASE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E4E51-807A-455B-92D9-579C76DB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Security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0DD1C-3F3E-4DAB-A971-88BDD79D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AB223-3C74-4155-8A9E-9DDB5114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9D122-6685-4F9C-A442-63DE5470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Protected management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97077-F441-4191-B128-0832722D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Anonymous requests now require sign-in. Workspace rights remain enforced.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E353F-18D3-4562-BA43-5C95AAFB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Payment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CB634-4F86-4266-9794-0AC938F9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The service rejects corrections to reversed payments.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1BA2C-F044-4303-ABE4-1FDAF9C4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Concurrent payment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45942-B375-44DD-9516-7941737C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Shared ledger locks keep recording, correction and reversal consistent.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3FA76-5B69-4EF9-A975-732141FA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Logout and dependencies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B7A2F-E836-43E3-8DC2-A2DC0167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Added logout protections and upgraded the affected cryptography packages.</a:t>
            </a:r>
          </a:p>
        </p:txBody>
      </p:sp>
    </p:spTree>
    <p:extLst>
      <p:ext uri="{BB962C8B-B14F-4D97-AF65-F5344CB8AC3E}">
        <p14:creationId xmlns:p14="http://schemas.microsoft.com/office/powerpoint/2010/main" val="18321077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A6CF2-80EE-4201-918B-0C11C58E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RUNTIME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5AA53-2D60-43B3-B15E-6439E456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Production application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EF7BD-FECD-4142-81E7-A0A46D4E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9AB62-C5C9-47A8-9ABC-92D4BF50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3BBD1-1D21-42A3-8C74-81734530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897AE-5CEA-49A0-B2FD-975C4DFB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Startup validates Cognito settings. Deployment supplies private configuration.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2314D-E4CA-42B2-ACF9-A01EDEC7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Proxy and HTTPS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77AC5-DFCA-4AD3-9BAE-1FA04E60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Trusted forwarded headers preserve the public HTTPS callback.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B0340-85F1-4243-92EB-80E969E1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Database deployment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0EA3F-7144-4367-A3F9-21BF8953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Production uses an explicit --migrate-only task before the app starts.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196E4-63DA-469F-85F5-8A398DC9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State and 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13878-BF28-435E-9BF1-DEEE762B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Shared login keys, SQL audit records and a separate health endpoint support containers.</a:t>
            </a:r>
          </a:p>
        </p:txBody>
      </p:sp>
    </p:spTree>
    <p:extLst>
      <p:ext uri="{BB962C8B-B14F-4D97-AF65-F5344CB8AC3E}">
        <p14:creationId xmlns:p14="http://schemas.microsoft.com/office/powerpoint/2010/main" val="20989469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EC7C5-EF67-432E-B747-823F6882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DEPLOYMENT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A1113-8D61-4691-9326-7506DDD3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Prepared AWS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E4525-AB44-4C92-902E-D61331AF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6A09E-41B4-4609-AA96-B3EE3552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C318B-E471-423A-8A47-FFAE760B6DE2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91000"/>
                <a:gridCol w="6629400"/>
              </a:tblGrid>
              <a:tr h="5851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8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AWS service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8364B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Identity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Cognito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Image and application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ECR and ECS Fargate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HTTPS entry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Application Load Balancer and ACM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SQL data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Private RDS for SQL Server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Private settings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Secrets Manager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Login keys and runtime logs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Encrypted EFS and CloudWatch Logs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D4E72-C9E8-431A-B6BE-B810DA91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Cognito exists. Hosting, RDS and the supporting stacks still need deployment.</a:t>
            </a:r>
          </a:p>
        </p:txBody>
      </p:sp>
    </p:spTree>
    <p:extLst>
      <p:ext uri="{BB962C8B-B14F-4D97-AF65-F5344CB8AC3E}">
        <p14:creationId xmlns:p14="http://schemas.microsoft.com/office/powerpoint/2010/main" val="5322181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35941-EE7F-4A9D-92F0-19300C73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EB2CF-4E84-41AF-A2B8-9AB2BE07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Recorded local 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D2A83-E2DD-4A15-89CC-F9C128A6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2DFBC-BD7B-482B-BD05-0E81CEF2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2326E-1858-42D8-B51D-E10F9345B30C}"/>
              </a:ext>
            </a:extLst>
          </p:cNvPr>
          <p:cNvGraphicFramePr/>
          <p:nvPr/>
        </p:nvGraphicFramePr>
        <p:xfrm>
          <a:off xmlns:a="http://schemas.openxmlformats.org/drawingml/2006/main" x="685800" y="1685925"/>
          <a:ext xmlns:a="http://schemas.openxmlformats.org/drawingml/2006/main" cx="10820400" cy="4267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762750"/>
                <a:gridCol w="405765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8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8364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Solution build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0 errors, 32 warnings remain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Identity, policy and assignment checks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185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SQL finance integration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37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Anonymous protected routes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21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AWS runtime checks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14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JavaScript suites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Both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CloudFormation schema validation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All three templates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80D0F-E6D1-48E7-AC12-F772904B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Redirect checks used a placeholder secret. No token exchange or staff login occurred.</a:t>
            </a:r>
          </a:p>
        </p:txBody>
      </p:sp>
    </p:spTree>
    <p:extLst>
      <p:ext uri="{BB962C8B-B14F-4D97-AF65-F5344CB8AC3E}">
        <p14:creationId xmlns:p14="http://schemas.microsoft.com/office/powerpoint/2010/main" val="1635642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E9CDE-2BBA-4C5B-AC71-6554670C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CLOUD WORK STILL TO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10BF1-2657-48C8-9E4A-FF9B5DE5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Deployment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0E2AA-434B-4BE4-A83C-C4CC3453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7456F-C7CC-45BE-AE20-E0DE84C1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59152-FD1D-402F-B638-6A3ABE98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01  Data protection and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5267B-CBB4-4871-BD46-0CE5B105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Back up SQL data, prepare the VPC, hostname and HTTPS certificate.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4B4E3-A4BB-475E-AB1C-B6D655B0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02  Database and private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BDD8D-4E92-49D5-9C94-BEF35948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Provision RDS, migrate school data and create the runtime secret.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36E84-4BDB-4410-936B-5E8F4AA4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03  Container and 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A9E21-2A14-445C-A75E-673EBFB6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Build and scan the image, push to ECR and run the migration task.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1E83D-4816-4063-876B-6B3E6092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04  Application and Cognito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76593-5845-4054-8A1C-E8C05E22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Start ECS and register the deployed callback and sign-out URLs.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B2958-E73B-43EA-8EC5-68E170D6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05  Acceptance and cutover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A0A9B-DE47-4739-A664-00981A7E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Verify roles, reconcile balances, test recovery and approve DNS cutover.</a:t>
            </a:r>
          </a:p>
        </p:txBody>
      </p:sp>
    </p:spTree>
    <p:extLst>
      <p:ext uri="{BB962C8B-B14F-4D97-AF65-F5344CB8AC3E}">
        <p14:creationId xmlns:p14="http://schemas.microsoft.com/office/powerpoint/2010/main" val="20816053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0C70D-B735-47EE-B9F6-528E1F58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17389-4D45-44FF-BB17-B032A16B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Open acceptance items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EDA92-E5F7-44CB-B7CD-66E0942D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4CEAF-078E-4E35-BB54-2A0B96F5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F978C-0637-40BC-BD7C-C00610E6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Identity acceptance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0E2DA-2ACB-4457-AC14-9C7D64D1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Confirm verified-email login, initial administration and successful logout.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FE676-795B-4A88-A581-F603D9E0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Secret replacement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9B58D-A376-4866-8EE8-318A06D5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Replace the client secret shared during setup and update private configuration.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205ED-0881-469D-A261-3CAC3D13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Live deployment and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3F915-F0B3-40BA-A82F-61B6CDDB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Provision AWS hosting and RDS, then verify migrated records and ledger totals.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10A46-CD17-4BEF-8968-A65EAA42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Operational acceptance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ED7A3-3766-4D10-92EE-7C5F7F70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Test backups, task restarts, shared keys and authenticated staff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0D1E4-D5BE-471E-B51A-466F8C0A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Cloud deployment costs and Free Tier eligibility need account-specific review.</a:t>
            </a:r>
          </a:p>
        </p:txBody>
      </p:sp>
    </p:spTree>
    <p:extLst>
      <p:ext uri="{BB962C8B-B14F-4D97-AF65-F5344CB8AC3E}">
        <p14:creationId xmlns:p14="http://schemas.microsoft.com/office/powerpoint/2010/main" val="10178156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884B9-5000-4E33-A6FC-15B88098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76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6418"/>
                </a:solidFill>
                <a:latin typeface="Arial"/>
                <a:ea typeface="Arial"/>
                <a:cs typeface="Arial"/>
              </a:rPr>
              <a:t>PROJECT DOCUMENTATION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AB53F-858D-473E-9A34-C4198045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6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64B"/>
                </a:solidFill>
                <a:latin typeface="Arial"/>
                <a:ea typeface="Arial"/>
                <a:cs typeface="Arial"/>
              </a:rPr>
              <a:t>Technical handover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FB00F-2020-4E52-8D59-B857DBB8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ST MARTIN DE PORRES PRIMARY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1B582-0774-4203-911A-3B2FCA53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1CE48-9F01-44DA-802A-0F6D927CE579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619750"/>
                <a:gridCol w="5200650"/>
              </a:tblGrid>
              <a:tr h="55789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File or folder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8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8364B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docs/aws-migration-record.md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Full history and current status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docs/aws-migration.md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Cognito and application configuration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deploy/aws/README.md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Deployment order and rollback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deploy/aws/application.yaml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ECS, HTTPS, shared keys and logs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deploy/aws/database.yaml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Private SQL Server and generated master secret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tests/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64B"/>
                          </a:solidFill>
                          <a:latin typeface="Arial"/>
                          <a:ea typeface="Arial"/>
                          <a:cs typeface="Arial"/>
                        </a:rPr>
                        <a:t>Local evidence and repeatable checks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C9B03-F599-48DD-9959-EB21D806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No passwords or client secrets appear in this presentation.</a:t>
            </a:r>
          </a:p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Use the detailed record and speaker notes for configuration and evidence.</a:t>
            </a:r>
          </a:p>
        </p:txBody>
      </p:sp>
    </p:spTree>
    <p:extLst>
      <p:ext uri="{BB962C8B-B14F-4D97-AF65-F5344CB8AC3E}">
        <p14:creationId xmlns:p14="http://schemas.microsoft.com/office/powerpoint/2010/main" val="1104380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2026-10-15T20:28:06.3000000Z</dcterms:created>
  <dcterms:modified xsi:type="dcterms:W3CDTF">2026-10-15T20:28:06.3000000Z</dcterms:modified>
</coreProperties>
</file>